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58" r:id="rId2"/>
    <p:sldId id="360" r:id="rId3"/>
    <p:sldId id="361" r:id="rId4"/>
    <p:sldId id="362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82" r:id="rId25"/>
    <p:sldId id="383" r:id="rId26"/>
    <p:sldId id="384" r:id="rId27"/>
    <p:sldId id="385" r:id="rId28"/>
    <p:sldId id="386" r:id="rId29"/>
    <p:sldId id="387" r:id="rId30"/>
    <p:sldId id="388" r:id="rId31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 baseline="300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 baseline="300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 baseline="300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 baseline="300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 baseline="300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  <p:clrMru>
    <a:srgbClr val="FFCC99"/>
    <a:srgbClr val="990000"/>
    <a:srgbClr val="EAEAEA"/>
    <a:srgbClr val="CC99FF"/>
    <a:srgbClr val="FFCCFF"/>
    <a:srgbClr val="99FFCC"/>
    <a:srgbClr val="FFFFCC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5955" autoAdjust="0"/>
  </p:normalViewPr>
  <p:slideViewPr>
    <p:cSldViewPr snapToGrid="0">
      <p:cViewPr varScale="1">
        <p:scale>
          <a:sx n="64" d="100"/>
          <a:sy n="64" d="100"/>
        </p:scale>
        <p:origin x="-15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39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fld id="{0B7DDBA9-E09C-4C0B-8B90-1222011396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248296-F2CF-427C-857E-A94448093C48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348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PPT_template-no-bar-MAIN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495800" y="1600200"/>
            <a:ext cx="3581400" cy="609600"/>
          </a:xfrm>
        </p:spPr>
        <p:txBody>
          <a:bodyPr anchor="t"/>
          <a:lstStyle>
            <a:lvl1pPr>
              <a:defRPr sz="3600">
                <a:latin typeface="Arial Black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4191000"/>
            <a:ext cx="3200400" cy="457200"/>
          </a:xfrm>
        </p:spPr>
        <p:txBody>
          <a:bodyPr/>
          <a:lstStyle>
            <a:lvl1pPr marL="0" indent="0">
              <a:defRPr sz="2000" i="1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8450" y="0"/>
            <a:ext cx="21145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61912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0" descr="PPT_template-no-bar-INSID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0"/>
            <a:ext cx="6858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8458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AAF6"/>
        </a:buClr>
        <a:buChar char="•"/>
        <a:defRPr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AAF6"/>
        </a:buClr>
        <a:buChar char="•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AAF6"/>
        </a:buClr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AAF6"/>
        </a:buClr>
        <a:buChar char="•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AAF6"/>
        </a:buClr>
        <a:buChar char="•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AAF6"/>
        </a:buClr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AAF6"/>
        </a:buClr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AAF6"/>
        </a:buClr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AAF6"/>
        </a:buClr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cdebrowser.nci.nih.gov/CDEBrowser/" TargetMode="External"/><Relationship Id="rId2" Type="http://schemas.openxmlformats.org/officeDocument/2006/relationships/hyperlink" Target="https://gforge.nci.nih.gov/frs/?group_id=230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umlmodelbrowser.nci.nih.gov/umlmodelbrowser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83075" y="1622425"/>
            <a:ext cx="4733925" cy="1063625"/>
          </a:xfrm>
        </p:spPr>
        <p:txBody>
          <a:bodyPr/>
          <a:lstStyle/>
          <a:p>
            <a:pPr eaLnBrk="1" hangingPunct="1"/>
            <a:r>
              <a:rPr lang="en-US" sz="3200" smtClean="0"/>
              <a:t>AIM Version 3.0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3829050"/>
            <a:ext cx="8534400" cy="1752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i="0" smtClean="0">
                <a:latin typeface="Times New Roman" pitchFamily="18" charset="0"/>
                <a:cs typeface="Times New Roman" pitchFamily="18" charset="0"/>
              </a:rPr>
              <a:t>Pat Mongkolwat PhD </a:t>
            </a:r>
            <a:r>
              <a:rPr lang="en-US" sz="1800" i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 </a:t>
            </a:r>
            <a:r>
              <a:rPr lang="en-US" sz="1800" i="0" smtClean="0">
                <a:latin typeface="Times New Roman" pitchFamily="18" charset="0"/>
                <a:cs typeface="Times New Roman" pitchFamily="18" charset="0"/>
              </a:rPr>
              <a:t>Vlad Kleper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i="0" smtClean="0">
                <a:latin typeface="Times New Roman" pitchFamily="18" charset="0"/>
                <a:cs typeface="Times New Roman" pitchFamily="18" charset="0"/>
              </a:rPr>
              <a:t>Northwestern University Feinberg School of Medicine Department of Radiology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i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i="0" smtClean="0">
                <a:latin typeface="Times New Roman" pitchFamily="18" charset="0"/>
                <a:cs typeface="Times New Roman" pitchFamily="18" charset="0"/>
              </a:rPr>
              <a:t>Daniel Rubin MD MS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i="0" smtClean="0">
                <a:latin typeface="Times New Roman" pitchFamily="18" charset="0"/>
                <a:cs typeface="Times New Roman" pitchFamily="18" charset="0"/>
              </a:rPr>
              <a:t>Stanford University Medical School Department of Radiology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600" i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i="0" smtClean="0">
                <a:latin typeface="Times New Roman" pitchFamily="18" charset="0"/>
                <a:cs typeface="Times New Roman" pitchFamily="18" charset="0"/>
              </a:rPr>
              <a:t>David S. Channin MD </a:t>
            </a:r>
            <a:endParaRPr lang="en-US" sz="1800" i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i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Guthrie, Sayre, PA</a:t>
            </a:r>
            <a:endParaRPr lang="en-US" sz="1600" i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600" i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600" i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1276350" y="6324600"/>
            <a:ext cx="659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This work funded by a contract from the National Cancer Institute through Booz Allen Hamilton</a:t>
            </a:r>
          </a:p>
          <a:p>
            <a:r>
              <a:rPr lang="en-US"/>
              <a:t> to Northwestern University’s Robert H. Lurie Comprehensive Cancer Center</a:t>
            </a:r>
          </a:p>
        </p:txBody>
      </p:sp>
      <p:grpSp>
        <p:nvGrpSpPr>
          <p:cNvPr id="4101" name="Group 6"/>
          <p:cNvGrpSpPr>
            <a:grpSpLocks/>
          </p:cNvGrpSpPr>
          <p:nvPr/>
        </p:nvGrpSpPr>
        <p:grpSpPr bwMode="auto">
          <a:xfrm>
            <a:off x="8229600" y="3810000"/>
            <a:ext cx="612775" cy="2559050"/>
            <a:chOff x="2290" y="1147"/>
            <a:chExt cx="386" cy="1612"/>
          </a:xfrm>
        </p:grpSpPr>
        <p:grpSp>
          <p:nvGrpSpPr>
            <p:cNvPr id="4102" name="Group 7"/>
            <p:cNvGrpSpPr>
              <a:grpSpLocks/>
            </p:cNvGrpSpPr>
            <p:nvPr/>
          </p:nvGrpSpPr>
          <p:grpSpPr bwMode="auto">
            <a:xfrm>
              <a:off x="2290" y="1147"/>
              <a:ext cx="386" cy="432"/>
              <a:chOff x="2288" y="1147"/>
              <a:chExt cx="386" cy="432"/>
            </a:xfrm>
          </p:grpSpPr>
          <p:sp>
            <p:nvSpPr>
              <p:cNvPr id="4112" name="Arc 8"/>
              <p:cNvSpPr>
                <a:spLocks/>
              </p:cNvSpPr>
              <p:nvPr/>
            </p:nvSpPr>
            <p:spPr bwMode="auto">
              <a:xfrm flipH="1" flipV="1">
                <a:off x="2482" y="1147"/>
                <a:ext cx="192" cy="4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762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113" name="Arc 9"/>
              <p:cNvSpPr>
                <a:spLocks/>
              </p:cNvSpPr>
              <p:nvPr/>
            </p:nvSpPr>
            <p:spPr bwMode="auto">
              <a:xfrm flipV="1">
                <a:off x="2288" y="1147"/>
                <a:ext cx="192" cy="4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762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</p:grpSp>
        <p:sp>
          <p:nvSpPr>
            <p:cNvPr id="4103" name="Line 10"/>
            <p:cNvSpPr>
              <a:spLocks noChangeShapeType="1"/>
            </p:cNvSpPr>
            <p:nvPr/>
          </p:nvSpPr>
          <p:spPr bwMode="auto">
            <a:xfrm>
              <a:off x="2411" y="1483"/>
              <a:ext cx="144" cy="0"/>
            </a:xfrm>
            <a:prstGeom prst="line">
              <a:avLst/>
            </a:prstGeom>
            <a:noFill/>
            <a:ln w="762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" name="Line 11"/>
            <p:cNvSpPr>
              <a:spLocks noChangeShapeType="1"/>
            </p:cNvSpPr>
            <p:nvPr/>
          </p:nvSpPr>
          <p:spPr bwMode="auto">
            <a:xfrm>
              <a:off x="2483" y="1483"/>
              <a:ext cx="0" cy="914"/>
            </a:xfrm>
            <a:prstGeom prst="line">
              <a:avLst/>
            </a:prstGeom>
            <a:noFill/>
            <a:ln w="76200">
              <a:solidFill>
                <a:srgbClr val="99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" name="Line 12"/>
            <p:cNvSpPr>
              <a:spLocks noChangeShapeType="1"/>
            </p:cNvSpPr>
            <p:nvPr/>
          </p:nvSpPr>
          <p:spPr bwMode="auto">
            <a:xfrm>
              <a:off x="2411" y="2400"/>
              <a:ext cx="144" cy="0"/>
            </a:xfrm>
            <a:prstGeom prst="line">
              <a:avLst/>
            </a:prstGeom>
            <a:noFill/>
            <a:ln w="76200">
              <a:solidFill>
                <a:srgbClr val="99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6" name="Group 13"/>
            <p:cNvGrpSpPr>
              <a:grpSpLocks/>
            </p:cNvGrpSpPr>
            <p:nvPr/>
          </p:nvGrpSpPr>
          <p:grpSpPr bwMode="auto">
            <a:xfrm>
              <a:off x="2297" y="2341"/>
              <a:ext cx="374" cy="418"/>
              <a:chOff x="2305" y="2341"/>
              <a:chExt cx="374" cy="418"/>
            </a:xfrm>
          </p:grpSpPr>
          <p:sp>
            <p:nvSpPr>
              <p:cNvPr id="4108" name="Line 14"/>
              <p:cNvSpPr>
                <a:spLocks noChangeShapeType="1"/>
              </p:cNvSpPr>
              <p:nvPr/>
            </p:nvSpPr>
            <p:spPr bwMode="auto">
              <a:xfrm>
                <a:off x="2314" y="2359"/>
                <a:ext cx="192" cy="144"/>
              </a:xfrm>
              <a:prstGeom prst="line">
                <a:avLst/>
              </a:prstGeom>
              <a:noFill/>
              <a:ln w="76200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9" name="Line 15"/>
              <p:cNvSpPr>
                <a:spLocks noChangeShapeType="1"/>
              </p:cNvSpPr>
              <p:nvPr/>
            </p:nvSpPr>
            <p:spPr bwMode="auto">
              <a:xfrm flipV="1">
                <a:off x="2479" y="2359"/>
                <a:ext cx="192" cy="144"/>
              </a:xfrm>
              <a:prstGeom prst="line">
                <a:avLst/>
              </a:prstGeom>
              <a:noFill/>
              <a:ln w="76200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0" name="Line 16"/>
              <p:cNvSpPr>
                <a:spLocks noChangeShapeType="1"/>
              </p:cNvSpPr>
              <p:nvPr/>
            </p:nvSpPr>
            <p:spPr bwMode="auto">
              <a:xfrm>
                <a:off x="2305" y="2341"/>
                <a:ext cx="0" cy="418"/>
              </a:xfrm>
              <a:prstGeom prst="line">
                <a:avLst/>
              </a:prstGeom>
              <a:noFill/>
              <a:ln w="76200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1" name="Line 17"/>
              <p:cNvSpPr>
                <a:spLocks noChangeShapeType="1"/>
              </p:cNvSpPr>
              <p:nvPr/>
            </p:nvSpPr>
            <p:spPr bwMode="auto">
              <a:xfrm>
                <a:off x="2679" y="2341"/>
                <a:ext cx="0" cy="418"/>
              </a:xfrm>
              <a:prstGeom prst="line">
                <a:avLst/>
              </a:prstGeom>
              <a:noFill/>
              <a:ln w="76200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7" name="Line 18"/>
            <p:cNvSpPr>
              <a:spLocks noChangeShapeType="1"/>
            </p:cNvSpPr>
            <p:nvPr/>
          </p:nvSpPr>
          <p:spPr bwMode="auto">
            <a:xfrm>
              <a:off x="2483" y="1477"/>
              <a:ext cx="0" cy="479"/>
            </a:xfrm>
            <a:prstGeom prst="line">
              <a:avLst/>
            </a:prstGeom>
            <a:noFill/>
            <a:ln w="762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advTm="8172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problem </a:t>
            </a:r>
          </a:p>
        </p:txBody>
      </p:sp>
      <p:sp>
        <p:nvSpPr>
          <p:cNvPr id="5123" name="Subtitle 2"/>
          <p:cNvSpPr>
            <a:spLocks noGrp="1"/>
          </p:cNvSpPr>
          <p:nvPr>
            <p:ph idx="1"/>
          </p:nvPr>
        </p:nvSpPr>
        <p:spPr>
          <a:xfrm>
            <a:off x="609600" y="1981200"/>
            <a:ext cx="8458200" cy="43434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An annotation is typically captured as free text in a radiology report.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mtClean="0"/>
          </a:p>
          <a:p>
            <a:pPr eaLnBrk="1" hangingPunct="1">
              <a:spcBef>
                <a:spcPct val="0"/>
              </a:spcBef>
            </a:pPr>
            <a:r>
              <a:rPr lang="en-US" smtClean="0"/>
              <a:t>A graphical drawing (markup) is stored in a proprietary format, DICOM Presentation State, or SR (structured reports) separated from text annotation.</a:t>
            </a:r>
          </a:p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  <p:transition advTm="8437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problem (cont.) </a:t>
            </a:r>
          </a:p>
        </p:txBody>
      </p:sp>
      <p:sp>
        <p:nvSpPr>
          <p:cNvPr id="51203" name="Subtitle 2"/>
          <p:cNvSpPr>
            <a:spLocks noGrp="1"/>
          </p:cNvSpPr>
          <p:nvPr>
            <p:ph idx="4294967295"/>
          </p:nvPr>
        </p:nvSpPr>
        <p:spPr>
          <a:xfrm>
            <a:off x="685800" y="3733800"/>
            <a:ext cx="8458200" cy="762000"/>
          </a:xfrm>
          <a:ln>
            <a:solidFill>
              <a:schemeClr val="bg1"/>
            </a:solidFill>
          </a:ln>
        </p:spPr>
        <p:txBody>
          <a:bodyPr/>
          <a:lstStyle/>
          <a:p>
            <a:pPr eaLnBrk="1" hangingPunct="1">
              <a:spcBef>
                <a:spcPct val="0"/>
              </a:spcBef>
              <a:buClrTx/>
            </a:pPr>
            <a:r>
              <a:rPr lang="en-US" b="0" smtClean="0"/>
              <a:t>No standard format for annotation and markup</a:t>
            </a:r>
          </a:p>
          <a:p>
            <a:pPr eaLnBrk="1" hangingPunct="1">
              <a:spcBef>
                <a:spcPct val="0"/>
              </a:spcBef>
              <a:buClrTx/>
            </a:pPr>
            <a:endParaRPr lang="en-US" smtClean="0"/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2809875" y="2163763"/>
            <a:ext cx="42005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240597"/>
                </a:solidFill>
                <a:latin typeface="Calibri" pitchFamily="34" charset="0"/>
              </a:rPr>
              <a:t>AIM Information Model</a:t>
            </a: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2773363" y="3230563"/>
            <a:ext cx="58721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240597"/>
                </a:solidFill>
                <a:latin typeface="Calibri" pitchFamily="34" charset="0"/>
              </a:rPr>
              <a:t>RadLex, DICOM, SNOMED CT, etc.</a:t>
            </a:r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2795588" y="4238625"/>
            <a:ext cx="4495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240597"/>
                </a:solidFill>
                <a:latin typeface="Calibri" pitchFamily="34" charset="0"/>
              </a:rPr>
              <a:t>DICOM SR, XML, HL7 CDA</a:t>
            </a:r>
          </a:p>
        </p:txBody>
      </p:sp>
      <p:sp>
        <p:nvSpPr>
          <p:cNvPr id="51207" name="Subtitle 2"/>
          <p:cNvSpPr>
            <a:spLocks/>
          </p:cNvSpPr>
          <p:nvPr/>
        </p:nvSpPr>
        <p:spPr bwMode="auto">
          <a:xfrm>
            <a:off x="685800" y="2743200"/>
            <a:ext cx="8458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 typeface="Arial" charset="0"/>
              <a:buChar char="•"/>
            </a:pPr>
            <a:r>
              <a:rPr lang="en-US" sz="3200">
                <a:latin typeface="Calibri" pitchFamily="34" charset="0"/>
              </a:rPr>
              <a:t>No agreed upon semantics to describe annotations.</a:t>
            </a:r>
          </a:p>
        </p:txBody>
      </p:sp>
      <p:sp>
        <p:nvSpPr>
          <p:cNvPr id="51208" name="Subtitle 2"/>
          <p:cNvSpPr>
            <a:spLocks/>
          </p:cNvSpPr>
          <p:nvPr/>
        </p:nvSpPr>
        <p:spPr bwMode="auto">
          <a:xfrm>
            <a:off x="685800" y="1676400"/>
            <a:ext cx="8458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 typeface="Arial" charset="0"/>
              <a:buChar char="•"/>
            </a:pPr>
            <a:r>
              <a:rPr lang="en-US" sz="3200">
                <a:latin typeface="Calibri" pitchFamily="34" charset="0"/>
              </a:rPr>
              <a:t>No agreed upon syntax for annotation and markup.</a:t>
            </a:r>
          </a:p>
        </p:txBody>
      </p:sp>
    </p:spTree>
    <p:custDataLst>
      <p:tags r:id="rId1"/>
    </p:custDataLst>
  </p:cSld>
  <p:clrMapOvr>
    <a:masterClrMapping/>
  </p:clrMapOvr>
  <p:transition advTm="1634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animBg="1"/>
      <p:bldP spid="51204" grpId="0"/>
      <p:bldP spid="51205" grpId="0"/>
      <p:bldP spid="51206" grpId="0"/>
      <p:bldP spid="51207" grpId="0"/>
      <p:bldP spid="5120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609600" y="1600200"/>
            <a:ext cx="84582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Annotations are explanatory or descriptive information related to referenced image or images.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800">
              <a:latin typeface="Calibri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Image annotations capture information about the meaning of pixel information in images.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800">
              <a:latin typeface="Calibri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Image markups are graphical symbols associated with an image.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800">
              <a:latin typeface="Calibri" pitchFamily="34" charset="0"/>
            </a:endParaRPr>
          </a:p>
        </p:txBody>
      </p:sp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 Solution - AIM </a:t>
            </a:r>
          </a:p>
        </p:txBody>
      </p:sp>
      <p:sp>
        <p:nvSpPr>
          <p:cNvPr id="5124" name="Rectangle 6"/>
          <p:cNvSpPr>
            <a:spLocks noChangeArrowheads="1"/>
          </p:cNvSpPr>
          <p:nvPr/>
        </p:nvSpPr>
        <p:spPr bwMode="auto">
          <a:xfrm>
            <a:off x="609600" y="5486400"/>
            <a:ext cx="8220075" cy="4762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Font typeface="Arial" charset="0"/>
              <a:buNone/>
              <a:defRPr/>
            </a:pPr>
            <a:r>
              <a:rPr lang="en-US" sz="2800" b="1">
                <a:latin typeface="Calibri" pitchFamily="34" charset="0"/>
              </a:rPr>
              <a:t>Image Annotations + Image Markups = </a:t>
            </a:r>
            <a:r>
              <a:rPr lang="en-US" sz="2400" b="1"/>
              <a:t>AIM Annotation</a:t>
            </a:r>
          </a:p>
        </p:txBody>
      </p:sp>
    </p:spTree>
  </p:cSld>
  <p:clrMapOvr>
    <a:masterClrMapping/>
  </p:clrMapOvr>
  <p:transition advTm="13125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An Image</a:t>
            </a:r>
          </a:p>
        </p:txBody>
      </p:sp>
      <p:pic>
        <p:nvPicPr>
          <p:cNvPr id="8195" name="Picture 5" descr="LungC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371600"/>
            <a:ext cx="5494338" cy="507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1891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An Image and A Markup</a:t>
            </a:r>
          </a:p>
        </p:txBody>
      </p:sp>
      <p:pic>
        <p:nvPicPr>
          <p:cNvPr id="9219" name="Picture 5" descr="LungC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371600"/>
            <a:ext cx="549910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0" name="Freeform 6"/>
          <p:cNvSpPr>
            <a:spLocks/>
          </p:cNvSpPr>
          <p:nvPr/>
        </p:nvSpPr>
        <p:spPr bwMode="auto">
          <a:xfrm>
            <a:off x="5715000" y="4527550"/>
            <a:ext cx="347663" cy="363538"/>
          </a:xfrm>
          <a:custGeom>
            <a:avLst/>
            <a:gdLst>
              <a:gd name="T0" fmla="*/ 2147483647 w 187"/>
              <a:gd name="T1" fmla="*/ 2147483647 h 212"/>
              <a:gd name="T2" fmla="*/ 2147483647 w 187"/>
              <a:gd name="T3" fmla="*/ 2147483647 h 212"/>
              <a:gd name="T4" fmla="*/ 2147483647 w 187"/>
              <a:gd name="T5" fmla="*/ 2147483647 h 212"/>
              <a:gd name="T6" fmla="*/ 2147483647 w 187"/>
              <a:gd name="T7" fmla="*/ 2147483647 h 212"/>
              <a:gd name="T8" fmla="*/ 2147483647 w 187"/>
              <a:gd name="T9" fmla="*/ 2147483647 h 212"/>
              <a:gd name="T10" fmla="*/ 2147483647 w 187"/>
              <a:gd name="T11" fmla="*/ 2147483647 h 212"/>
              <a:gd name="T12" fmla="*/ 2147483647 w 187"/>
              <a:gd name="T13" fmla="*/ 2147483647 h 212"/>
              <a:gd name="T14" fmla="*/ 2147483647 w 187"/>
              <a:gd name="T15" fmla="*/ 2147483647 h 212"/>
              <a:gd name="T16" fmla="*/ 2147483647 w 187"/>
              <a:gd name="T17" fmla="*/ 2147483647 h 212"/>
              <a:gd name="T18" fmla="*/ 2147483647 w 187"/>
              <a:gd name="T19" fmla="*/ 2147483647 h 212"/>
              <a:gd name="T20" fmla="*/ 2147483647 w 187"/>
              <a:gd name="T21" fmla="*/ 2147483647 h 212"/>
              <a:gd name="T22" fmla="*/ 2147483647 w 187"/>
              <a:gd name="T23" fmla="*/ 2147483647 h 212"/>
              <a:gd name="T24" fmla="*/ 2147483647 w 187"/>
              <a:gd name="T25" fmla="*/ 2147483647 h 212"/>
              <a:gd name="T26" fmla="*/ 2147483647 w 187"/>
              <a:gd name="T27" fmla="*/ 2147483647 h 212"/>
              <a:gd name="T28" fmla="*/ 2147483647 w 187"/>
              <a:gd name="T29" fmla="*/ 2147483647 h 212"/>
              <a:gd name="T30" fmla="*/ 2147483647 w 187"/>
              <a:gd name="T31" fmla="*/ 2147483647 h 212"/>
              <a:gd name="T32" fmla="*/ 2147483647 w 187"/>
              <a:gd name="T33" fmla="*/ 0 h 212"/>
              <a:gd name="T34" fmla="*/ 2147483647 w 187"/>
              <a:gd name="T35" fmla="*/ 2147483647 h 212"/>
              <a:gd name="T36" fmla="*/ 2147483647 w 187"/>
              <a:gd name="T37" fmla="*/ 2147483647 h 21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87"/>
              <a:gd name="T58" fmla="*/ 0 h 212"/>
              <a:gd name="T59" fmla="*/ 187 w 187"/>
              <a:gd name="T60" fmla="*/ 212 h 21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87" h="212">
                <a:moveTo>
                  <a:pt x="52" y="27"/>
                </a:moveTo>
                <a:cubicBezTo>
                  <a:pt x="49" y="36"/>
                  <a:pt x="31" y="48"/>
                  <a:pt x="31" y="48"/>
                </a:cubicBezTo>
                <a:cubicBezTo>
                  <a:pt x="27" y="54"/>
                  <a:pt x="18" y="56"/>
                  <a:pt x="16" y="63"/>
                </a:cubicBezTo>
                <a:cubicBezTo>
                  <a:pt x="11" y="79"/>
                  <a:pt x="12" y="97"/>
                  <a:pt x="10" y="114"/>
                </a:cubicBezTo>
                <a:cubicBezTo>
                  <a:pt x="13" y="169"/>
                  <a:pt x="0" y="176"/>
                  <a:pt x="43" y="162"/>
                </a:cubicBezTo>
                <a:cubicBezTo>
                  <a:pt x="48" y="182"/>
                  <a:pt x="45" y="182"/>
                  <a:pt x="67" y="189"/>
                </a:cubicBezTo>
                <a:cubicBezTo>
                  <a:pt x="73" y="191"/>
                  <a:pt x="79" y="193"/>
                  <a:pt x="85" y="195"/>
                </a:cubicBezTo>
                <a:cubicBezTo>
                  <a:pt x="88" y="196"/>
                  <a:pt x="94" y="198"/>
                  <a:pt x="94" y="198"/>
                </a:cubicBezTo>
                <a:cubicBezTo>
                  <a:pt x="103" y="212"/>
                  <a:pt x="107" y="210"/>
                  <a:pt x="124" y="207"/>
                </a:cubicBezTo>
                <a:cubicBezTo>
                  <a:pt x="131" y="186"/>
                  <a:pt x="137" y="188"/>
                  <a:pt x="157" y="195"/>
                </a:cubicBezTo>
                <a:cubicBezTo>
                  <a:pt x="182" y="191"/>
                  <a:pt x="176" y="188"/>
                  <a:pt x="160" y="177"/>
                </a:cubicBezTo>
                <a:cubicBezTo>
                  <a:pt x="150" y="162"/>
                  <a:pt x="154" y="146"/>
                  <a:pt x="148" y="129"/>
                </a:cubicBezTo>
                <a:cubicBezTo>
                  <a:pt x="149" y="126"/>
                  <a:pt x="148" y="121"/>
                  <a:pt x="151" y="120"/>
                </a:cubicBezTo>
                <a:cubicBezTo>
                  <a:pt x="157" y="117"/>
                  <a:pt x="170" y="124"/>
                  <a:pt x="172" y="117"/>
                </a:cubicBezTo>
                <a:cubicBezTo>
                  <a:pt x="187" y="62"/>
                  <a:pt x="183" y="64"/>
                  <a:pt x="160" y="48"/>
                </a:cubicBezTo>
                <a:cubicBezTo>
                  <a:pt x="141" y="20"/>
                  <a:pt x="122" y="21"/>
                  <a:pt x="91" y="18"/>
                </a:cubicBezTo>
                <a:cubicBezTo>
                  <a:pt x="79" y="14"/>
                  <a:pt x="74" y="12"/>
                  <a:pt x="70" y="0"/>
                </a:cubicBezTo>
                <a:cubicBezTo>
                  <a:pt x="58" y="4"/>
                  <a:pt x="60" y="11"/>
                  <a:pt x="49" y="18"/>
                </a:cubicBezTo>
                <a:cubicBezTo>
                  <a:pt x="45" y="36"/>
                  <a:pt x="42" y="37"/>
                  <a:pt x="52" y="27"/>
                </a:cubicBezTo>
                <a:close/>
              </a:path>
            </a:pathLst>
          </a:custGeom>
          <a:noFill/>
          <a:ln w="28575" cmpd="sng">
            <a:solidFill>
              <a:srgbClr val="33CC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1" name="Line 7"/>
          <p:cNvSpPr>
            <a:spLocks noChangeShapeType="1"/>
          </p:cNvSpPr>
          <p:nvPr/>
        </p:nvSpPr>
        <p:spPr bwMode="auto">
          <a:xfrm flipV="1">
            <a:off x="5943600" y="3962400"/>
            <a:ext cx="533400" cy="6096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advTm="4578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465263" y="65088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An Image, A Markup, An Annotation</a:t>
            </a:r>
          </a:p>
        </p:txBody>
      </p:sp>
      <p:grpSp>
        <p:nvGrpSpPr>
          <p:cNvPr id="10243" name="Group 3"/>
          <p:cNvGrpSpPr>
            <a:grpSpLocks/>
          </p:cNvGrpSpPr>
          <p:nvPr/>
        </p:nvGrpSpPr>
        <p:grpSpPr bwMode="auto">
          <a:xfrm>
            <a:off x="533400" y="1219200"/>
            <a:ext cx="3810000" cy="3857625"/>
            <a:chOff x="0" y="1008"/>
            <a:chExt cx="2958" cy="2958"/>
          </a:xfrm>
        </p:grpSpPr>
        <p:pic>
          <p:nvPicPr>
            <p:cNvPr id="10254" name="Picture 4" descr="LungCA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1008"/>
              <a:ext cx="2958" cy="29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55" name="Freeform 5"/>
            <p:cNvSpPr>
              <a:spLocks/>
            </p:cNvSpPr>
            <p:nvPr/>
          </p:nvSpPr>
          <p:spPr bwMode="auto">
            <a:xfrm>
              <a:off x="2090" y="2847"/>
              <a:ext cx="187" cy="212"/>
            </a:xfrm>
            <a:custGeom>
              <a:avLst/>
              <a:gdLst>
                <a:gd name="T0" fmla="*/ 52 w 187"/>
                <a:gd name="T1" fmla="*/ 27 h 212"/>
                <a:gd name="T2" fmla="*/ 31 w 187"/>
                <a:gd name="T3" fmla="*/ 48 h 212"/>
                <a:gd name="T4" fmla="*/ 16 w 187"/>
                <a:gd name="T5" fmla="*/ 63 h 212"/>
                <a:gd name="T6" fmla="*/ 10 w 187"/>
                <a:gd name="T7" fmla="*/ 114 h 212"/>
                <a:gd name="T8" fmla="*/ 43 w 187"/>
                <a:gd name="T9" fmla="*/ 162 h 212"/>
                <a:gd name="T10" fmla="*/ 67 w 187"/>
                <a:gd name="T11" fmla="*/ 189 h 212"/>
                <a:gd name="T12" fmla="*/ 85 w 187"/>
                <a:gd name="T13" fmla="*/ 195 h 212"/>
                <a:gd name="T14" fmla="*/ 94 w 187"/>
                <a:gd name="T15" fmla="*/ 198 h 212"/>
                <a:gd name="T16" fmla="*/ 124 w 187"/>
                <a:gd name="T17" fmla="*/ 207 h 212"/>
                <a:gd name="T18" fmla="*/ 157 w 187"/>
                <a:gd name="T19" fmla="*/ 195 h 212"/>
                <a:gd name="T20" fmla="*/ 160 w 187"/>
                <a:gd name="T21" fmla="*/ 177 h 212"/>
                <a:gd name="T22" fmla="*/ 148 w 187"/>
                <a:gd name="T23" fmla="*/ 129 h 212"/>
                <a:gd name="T24" fmla="*/ 151 w 187"/>
                <a:gd name="T25" fmla="*/ 120 h 212"/>
                <a:gd name="T26" fmla="*/ 172 w 187"/>
                <a:gd name="T27" fmla="*/ 117 h 212"/>
                <a:gd name="T28" fmla="*/ 160 w 187"/>
                <a:gd name="T29" fmla="*/ 48 h 212"/>
                <a:gd name="T30" fmla="*/ 91 w 187"/>
                <a:gd name="T31" fmla="*/ 18 h 212"/>
                <a:gd name="T32" fmla="*/ 70 w 187"/>
                <a:gd name="T33" fmla="*/ 0 h 212"/>
                <a:gd name="T34" fmla="*/ 49 w 187"/>
                <a:gd name="T35" fmla="*/ 18 h 212"/>
                <a:gd name="T36" fmla="*/ 52 w 187"/>
                <a:gd name="T37" fmla="*/ 27 h 21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87"/>
                <a:gd name="T58" fmla="*/ 0 h 212"/>
                <a:gd name="T59" fmla="*/ 187 w 187"/>
                <a:gd name="T60" fmla="*/ 212 h 21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87" h="212">
                  <a:moveTo>
                    <a:pt x="52" y="27"/>
                  </a:moveTo>
                  <a:cubicBezTo>
                    <a:pt x="49" y="36"/>
                    <a:pt x="31" y="48"/>
                    <a:pt x="31" y="48"/>
                  </a:cubicBezTo>
                  <a:cubicBezTo>
                    <a:pt x="27" y="54"/>
                    <a:pt x="18" y="56"/>
                    <a:pt x="16" y="63"/>
                  </a:cubicBezTo>
                  <a:cubicBezTo>
                    <a:pt x="11" y="79"/>
                    <a:pt x="12" y="97"/>
                    <a:pt x="10" y="114"/>
                  </a:cubicBezTo>
                  <a:cubicBezTo>
                    <a:pt x="13" y="169"/>
                    <a:pt x="0" y="176"/>
                    <a:pt x="43" y="162"/>
                  </a:cubicBezTo>
                  <a:cubicBezTo>
                    <a:pt x="48" y="182"/>
                    <a:pt x="45" y="182"/>
                    <a:pt x="67" y="189"/>
                  </a:cubicBezTo>
                  <a:cubicBezTo>
                    <a:pt x="73" y="191"/>
                    <a:pt x="79" y="193"/>
                    <a:pt x="85" y="195"/>
                  </a:cubicBezTo>
                  <a:cubicBezTo>
                    <a:pt x="88" y="196"/>
                    <a:pt x="94" y="198"/>
                    <a:pt x="94" y="198"/>
                  </a:cubicBezTo>
                  <a:cubicBezTo>
                    <a:pt x="103" y="212"/>
                    <a:pt x="107" y="210"/>
                    <a:pt x="124" y="207"/>
                  </a:cubicBezTo>
                  <a:cubicBezTo>
                    <a:pt x="131" y="186"/>
                    <a:pt x="137" y="188"/>
                    <a:pt x="157" y="195"/>
                  </a:cubicBezTo>
                  <a:cubicBezTo>
                    <a:pt x="182" y="191"/>
                    <a:pt x="176" y="188"/>
                    <a:pt x="160" y="177"/>
                  </a:cubicBezTo>
                  <a:cubicBezTo>
                    <a:pt x="150" y="162"/>
                    <a:pt x="154" y="146"/>
                    <a:pt x="148" y="129"/>
                  </a:cubicBezTo>
                  <a:cubicBezTo>
                    <a:pt x="149" y="126"/>
                    <a:pt x="148" y="121"/>
                    <a:pt x="151" y="120"/>
                  </a:cubicBezTo>
                  <a:cubicBezTo>
                    <a:pt x="157" y="117"/>
                    <a:pt x="170" y="124"/>
                    <a:pt x="172" y="117"/>
                  </a:cubicBezTo>
                  <a:cubicBezTo>
                    <a:pt x="187" y="62"/>
                    <a:pt x="183" y="64"/>
                    <a:pt x="160" y="48"/>
                  </a:cubicBezTo>
                  <a:cubicBezTo>
                    <a:pt x="141" y="20"/>
                    <a:pt x="122" y="21"/>
                    <a:pt x="91" y="18"/>
                  </a:cubicBezTo>
                  <a:cubicBezTo>
                    <a:pt x="79" y="14"/>
                    <a:pt x="74" y="12"/>
                    <a:pt x="70" y="0"/>
                  </a:cubicBezTo>
                  <a:cubicBezTo>
                    <a:pt x="58" y="4"/>
                    <a:pt x="60" y="11"/>
                    <a:pt x="49" y="18"/>
                  </a:cubicBezTo>
                  <a:cubicBezTo>
                    <a:pt x="45" y="36"/>
                    <a:pt x="42" y="37"/>
                    <a:pt x="52" y="27"/>
                  </a:cubicBezTo>
                  <a:close/>
                </a:path>
              </a:pathLst>
            </a:custGeom>
            <a:noFill/>
            <a:ln w="28575" cmpd="sng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4" name="Line 6"/>
          <p:cNvSpPr>
            <a:spLocks noChangeShapeType="1"/>
          </p:cNvSpPr>
          <p:nvPr/>
        </p:nvSpPr>
        <p:spPr bwMode="auto">
          <a:xfrm flipV="1">
            <a:off x="3429000" y="2971800"/>
            <a:ext cx="533400" cy="6096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5" name="Text Box 8"/>
          <p:cNvSpPr txBox="1">
            <a:spLocks noChangeArrowheads="1"/>
          </p:cNvSpPr>
          <p:nvPr/>
        </p:nvSpPr>
        <p:spPr bwMode="auto">
          <a:xfrm>
            <a:off x="3962400" y="1330325"/>
            <a:ext cx="4900613" cy="2073275"/>
          </a:xfrm>
          <a:prstGeom prst="rect">
            <a:avLst/>
          </a:prstGeom>
          <a:solidFill>
            <a:srgbClr val="33CC33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>
                <a:latin typeface="Calibri" pitchFamily="34" charset="0"/>
              </a:rPr>
              <a:t>Anatomic Entity:</a:t>
            </a:r>
            <a:r>
              <a:rPr lang="en-US">
                <a:latin typeface="Calibri" pitchFamily="34" charset="0"/>
              </a:rPr>
              <a:t> Upper lobe of left lung (RID1327)</a:t>
            </a:r>
          </a:p>
          <a:p>
            <a:pPr>
              <a:lnSpc>
                <a:spcPct val="120000"/>
              </a:lnSpc>
            </a:pPr>
            <a:r>
              <a:rPr lang="en-US" b="1">
                <a:latin typeface="Calibri" pitchFamily="34" charset="0"/>
              </a:rPr>
              <a:t>Observation:</a:t>
            </a:r>
            <a:r>
              <a:rPr lang="en-US">
                <a:latin typeface="Calibri" pitchFamily="34" charset="0"/>
              </a:rPr>
              <a:t> Mass (RID:3874)</a:t>
            </a:r>
          </a:p>
          <a:p>
            <a:pPr>
              <a:lnSpc>
                <a:spcPct val="120000"/>
              </a:lnSpc>
            </a:pPr>
            <a:r>
              <a:rPr lang="en-US">
                <a:latin typeface="Calibri" pitchFamily="34" charset="0"/>
              </a:rPr>
              <a:t>   </a:t>
            </a:r>
            <a:r>
              <a:rPr lang="en-US" b="1">
                <a:latin typeface="Calibri" pitchFamily="34" charset="0"/>
              </a:rPr>
              <a:t>Characteristic:</a:t>
            </a:r>
            <a:r>
              <a:rPr lang="en-US">
                <a:latin typeface="Calibri" pitchFamily="34" charset="0"/>
              </a:rPr>
              <a:t> Microlobulated margin (RID5712)</a:t>
            </a:r>
          </a:p>
          <a:p>
            <a:pPr>
              <a:lnSpc>
                <a:spcPct val="120000"/>
              </a:lnSpc>
            </a:pPr>
            <a:r>
              <a:rPr lang="en-US" b="1">
                <a:latin typeface="Calibri" pitchFamily="34" charset="0"/>
              </a:rPr>
              <a:t>Geometric Shape:</a:t>
            </a:r>
            <a:r>
              <a:rPr lang="en-US">
                <a:latin typeface="Calibri" pitchFamily="34" charset="0"/>
              </a:rPr>
              <a:t> Polyline</a:t>
            </a:r>
          </a:p>
          <a:p>
            <a:pPr>
              <a:lnSpc>
                <a:spcPct val="120000"/>
              </a:lnSpc>
            </a:pPr>
            <a:r>
              <a:rPr lang="en-US">
                <a:latin typeface="Calibri" pitchFamily="34" charset="0"/>
              </a:rPr>
              <a:t>   </a:t>
            </a:r>
            <a:r>
              <a:rPr lang="en-US" b="1">
                <a:latin typeface="Calibri" pitchFamily="34" charset="0"/>
              </a:rPr>
              <a:t>2D coordinates:</a:t>
            </a:r>
            <a:r>
              <a:rPr lang="en-US">
                <a:latin typeface="Calibri" pitchFamily="34" charset="0"/>
              </a:rPr>
              <a:t> {(x,y), (x,y)….}</a:t>
            </a:r>
          </a:p>
          <a:p>
            <a:pPr>
              <a:lnSpc>
                <a:spcPct val="120000"/>
              </a:lnSpc>
            </a:pPr>
            <a:r>
              <a:rPr lang="en-US" b="1">
                <a:latin typeface="Calibri" pitchFamily="34" charset="0"/>
              </a:rPr>
              <a:t>Calculation:</a:t>
            </a:r>
            <a:r>
              <a:rPr lang="en-US">
                <a:latin typeface="Calibri" pitchFamily="34" charset="0"/>
              </a:rPr>
              <a:t> Largest diameter result: 2.8 cm</a:t>
            </a:r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69163" y="4876800"/>
            <a:ext cx="1874837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10"/>
          <p:cNvPicPr>
            <a:picLocks noChangeAspect="1" noChangeArrowheads="1"/>
          </p:cNvPicPr>
          <p:nvPr/>
        </p:nvPicPr>
        <p:blipFill>
          <a:blip r:embed="rId5" cstate="print"/>
          <a:srcRect r="25233"/>
          <a:stretch>
            <a:fillRect/>
          </a:stretch>
        </p:blipFill>
        <p:spPr bwMode="auto">
          <a:xfrm>
            <a:off x="1752600" y="4692650"/>
            <a:ext cx="2590800" cy="216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0" name="Line 11"/>
          <p:cNvSpPr>
            <a:spLocks noChangeShapeType="1"/>
          </p:cNvSpPr>
          <p:nvPr/>
        </p:nvSpPr>
        <p:spPr bwMode="auto">
          <a:xfrm flipV="1">
            <a:off x="4191000" y="3657600"/>
            <a:ext cx="1752600" cy="12192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1" name="Line 12"/>
          <p:cNvSpPr>
            <a:spLocks noChangeShapeType="1"/>
          </p:cNvSpPr>
          <p:nvPr/>
        </p:nvSpPr>
        <p:spPr bwMode="auto">
          <a:xfrm flipH="1" flipV="1">
            <a:off x="6019800" y="3657600"/>
            <a:ext cx="1524000" cy="12192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2" name="Text Box 13"/>
          <p:cNvSpPr txBox="1">
            <a:spLocks noChangeArrowheads="1"/>
          </p:cNvSpPr>
          <p:nvPr/>
        </p:nvSpPr>
        <p:spPr bwMode="auto">
          <a:xfrm>
            <a:off x="3117850" y="5165725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F3776E"/>
                </a:solidFill>
              </a:rPr>
              <a:t>DICOM SR</a:t>
            </a:r>
          </a:p>
        </p:txBody>
      </p:sp>
      <p:sp>
        <p:nvSpPr>
          <p:cNvPr id="8203" name="Text Box 15"/>
          <p:cNvSpPr txBox="1">
            <a:spLocks noChangeArrowheads="1"/>
          </p:cNvSpPr>
          <p:nvPr/>
        </p:nvSpPr>
        <p:spPr bwMode="auto">
          <a:xfrm>
            <a:off x="7620000" y="4419600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F3776E"/>
                </a:solidFill>
              </a:rPr>
              <a:t>XML</a:t>
            </a:r>
          </a:p>
        </p:txBody>
      </p:sp>
      <p:sp>
        <p:nvSpPr>
          <p:cNvPr id="8204" name="Text Box 16"/>
          <p:cNvSpPr txBox="1">
            <a:spLocks noChangeArrowheads="1"/>
          </p:cNvSpPr>
          <p:nvPr/>
        </p:nvSpPr>
        <p:spPr bwMode="auto">
          <a:xfrm>
            <a:off x="4876800" y="5486400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F3776E"/>
                </a:solidFill>
              </a:rPr>
              <a:t>HL7 CDA</a:t>
            </a:r>
          </a:p>
        </p:txBody>
      </p:sp>
      <p:sp>
        <p:nvSpPr>
          <p:cNvPr id="8205" name="Line 17"/>
          <p:cNvSpPr>
            <a:spLocks noChangeShapeType="1"/>
          </p:cNvSpPr>
          <p:nvPr/>
        </p:nvSpPr>
        <p:spPr bwMode="auto">
          <a:xfrm flipV="1">
            <a:off x="6172200" y="5486400"/>
            <a:ext cx="1066800" cy="1524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p:transition advTm="1711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 animBg="1"/>
      <p:bldP spid="8201" grpId="0" animBg="1"/>
      <p:bldP spid="8202" grpId="0"/>
      <p:bldP spid="8203" grpId="0"/>
      <p:bldP spid="8204" grpId="0"/>
      <p:bldP spid="820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AIM captures…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990600" y="1447800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 b="1">
                <a:latin typeface="Calibri" pitchFamily="34" charset="0"/>
              </a:rPr>
              <a:t>ImageAnnotation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3200">
                <a:latin typeface="Calibri" pitchFamily="34" charset="0"/>
              </a:rPr>
              <a:t>Describe a single object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3200">
                <a:latin typeface="Calibri" pitchFamily="34" charset="0"/>
              </a:rPr>
              <a:t>Annotation and markup information on one or multiple images</a:t>
            </a:r>
            <a:r>
              <a:rPr lang="en-US" sz="3200" b="1">
                <a:latin typeface="Calibri" pitchFamily="34" charset="0"/>
              </a:rPr>
              <a:t> 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 b="1">
                <a:latin typeface="Calibri" pitchFamily="34" charset="0"/>
              </a:rPr>
              <a:t>AnnotationOfAnnotation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3200">
                <a:latin typeface="Calibri" pitchFamily="34" charset="0"/>
              </a:rPr>
              <a:t>Annotation information on one or multiple AIM annotations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3200">
                <a:latin typeface="Calibri" pitchFamily="34" charset="0"/>
              </a:rPr>
              <a:t>Grouping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3200">
                <a:latin typeface="Calibri" pitchFamily="34" charset="0"/>
              </a:rPr>
              <a:t>Comparing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None/>
            </a:pPr>
            <a:endParaRPr lang="en-US" sz="3200" b="1">
              <a:latin typeface="Calibri" pitchFamily="34" charset="0"/>
            </a:endParaRPr>
          </a:p>
        </p:txBody>
      </p:sp>
    </p:spTree>
  </p:cSld>
  <p:clrMapOvr>
    <a:masterClrMapping/>
  </p:clrMapOvr>
  <p:transition advTm="8843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An ImageAnnotation</a:t>
            </a:r>
          </a:p>
        </p:txBody>
      </p:sp>
      <p:pic>
        <p:nvPicPr>
          <p:cNvPr id="12291" name="Picture 7"/>
          <p:cNvPicPr>
            <a:picLocks noChangeAspect="1" noChangeArrowheads="1"/>
          </p:cNvPicPr>
          <p:nvPr/>
        </p:nvPicPr>
        <p:blipFill>
          <a:blip r:embed="rId2" cstate="print"/>
          <a:srcRect t="4286"/>
          <a:stretch>
            <a:fillRect/>
          </a:stretch>
        </p:blipFill>
        <p:spPr bwMode="auto">
          <a:xfrm>
            <a:off x="2057400" y="1447800"/>
            <a:ext cx="5334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2895600" y="2895600"/>
            <a:ext cx="495300" cy="471488"/>
            <a:chOff x="1824" y="1824"/>
            <a:chExt cx="312" cy="297"/>
          </a:xfrm>
        </p:grpSpPr>
        <p:sp>
          <p:nvSpPr>
            <p:cNvPr id="12306" name="Line 7"/>
            <p:cNvSpPr>
              <a:spLocks noChangeShapeType="1"/>
            </p:cNvSpPr>
            <p:nvPr/>
          </p:nvSpPr>
          <p:spPr bwMode="auto">
            <a:xfrm flipH="1" flipV="1">
              <a:off x="1824" y="1824"/>
              <a:ext cx="192" cy="144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7" name="Freeform 8"/>
            <p:cNvSpPr>
              <a:spLocks/>
            </p:cNvSpPr>
            <p:nvPr/>
          </p:nvSpPr>
          <p:spPr bwMode="auto">
            <a:xfrm>
              <a:off x="1960" y="1933"/>
              <a:ext cx="176" cy="188"/>
            </a:xfrm>
            <a:custGeom>
              <a:avLst/>
              <a:gdLst>
                <a:gd name="T0" fmla="*/ 144 w 176"/>
                <a:gd name="T1" fmla="*/ 0 h 188"/>
                <a:gd name="T2" fmla="*/ 149 w 176"/>
                <a:gd name="T3" fmla="*/ 30 h 188"/>
                <a:gd name="T4" fmla="*/ 165 w 176"/>
                <a:gd name="T5" fmla="*/ 35 h 188"/>
                <a:gd name="T6" fmla="*/ 149 w 176"/>
                <a:gd name="T7" fmla="*/ 121 h 188"/>
                <a:gd name="T8" fmla="*/ 49 w 176"/>
                <a:gd name="T9" fmla="*/ 161 h 188"/>
                <a:gd name="T10" fmla="*/ 104 w 176"/>
                <a:gd name="T11" fmla="*/ 40 h 188"/>
                <a:gd name="T12" fmla="*/ 144 w 176"/>
                <a:gd name="T13" fmla="*/ 0 h 1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"/>
                <a:gd name="T22" fmla="*/ 0 h 188"/>
                <a:gd name="T23" fmla="*/ 176 w 176"/>
                <a:gd name="T24" fmla="*/ 188 h 1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" h="188">
                  <a:moveTo>
                    <a:pt x="144" y="0"/>
                  </a:moveTo>
                  <a:cubicBezTo>
                    <a:pt x="146" y="10"/>
                    <a:pt x="144" y="21"/>
                    <a:pt x="149" y="30"/>
                  </a:cubicBezTo>
                  <a:cubicBezTo>
                    <a:pt x="152" y="35"/>
                    <a:pt x="164" y="29"/>
                    <a:pt x="165" y="35"/>
                  </a:cubicBezTo>
                  <a:cubicBezTo>
                    <a:pt x="174" y="103"/>
                    <a:pt x="176" y="96"/>
                    <a:pt x="149" y="121"/>
                  </a:cubicBezTo>
                  <a:cubicBezTo>
                    <a:pt x="127" y="188"/>
                    <a:pt x="167" y="168"/>
                    <a:pt x="49" y="161"/>
                  </a:cubicBezTo>
                  <a:cubicBezTo>
                    <a:pt x="0" y="88"/>
                    <a:pt x="50" y="58"/>
                    <a:pt x="104" y="40"/>
                  </a:cubicBezTo>
                  <a:cubicBezTo>
                    <a:pt x="128" y="4"/>
                    <a:pt x="113" y="15"/>
                    <a:pt x="144" y="0"/>
                  </a:cubicBezTo>
                  <a:close/>
                </a:path>
              </a:pathLst>
            </a:custGeom>
            <a:noFill/>
            <a:ln w="28575" cmpd="sng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200400" y="2590800"/>
            <a:ext cx="409575" cy="454025"/>
            <a:chOff x="2016" y="1632"/>
            <a:chExt cx="258" cy="286"/>
          </a:xfrm>
        </p:grpSpPr>
        <p:sp>
          <p:nvSpPr>
            <p:cNvPr id="12304" name="Freeform 9"/>
            <p:cNvSpPr>
              <a:spLocks/>
            </p:cNvSpPr>
            <p:nvPr/>
          </p:nvSpPr>
          <p:spPr bwMode="auto">
            <a:xfrm>
              <a:off x="2195" y="1813"/>
              <a:ext cx="79" cy="105"/>
            </a:xfrm>
            <a:custGeom>
              <a:avLst/>
              <a:gdLst>
                <a:gd name="T0" fmla="*/ 10 w 79"/>
                <a:gd name="T1" fmla="*/ 0 h 105"/>
                <a:gd name="T2" fmla="*/ 60 w 79"/>
                <a:gd name="T3" fmla="*/ 20 h 105"/>
                <a:gd name="T4" fmla="*/ 60 w 79"/>
                <a:gd name="T5" fmla="*/ 95 h 105"/>
                <a:gd name="T6" fmla="*/ 25 w 79"/>
                <a:gd name="T7" fmla="*/ 90 h 105"/>
                <a:gd name="T8" fmla="*/ 10 w 79"/>
                <a:gd name="T9" fmla="*/ 80 h 105"/>
                <a:gd name="T10" fmla="*/ 0 w 79"/>
                <a:gd name="T11" fmla="*/ 50 h 105"/>
                <a:gd name="T12" fmla="*/ 10 w 79"/>
                <a:gd name="T13" fmla="*/ 0 h 1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9"/>
                <a:gd name="T22" fmla="*/ 0 h 105"/>
                <a:gd name="T23" fmla="*/ 79 w 79"/>
                <a:gd name="T24" fmla="*/ 105 h 10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9" h="105">
                  <a:moveTo>
                    <a:pt x="10" y="0"/>
                  </a:moveTo>
                  <a:cubicBezTo>
                    <a:pt x="28" y="6"/>
                    <a:pt x="44" y="9"/>
                    <a:pt x="60" y="20"/>
                  </a:cubicBezTo>
                  <a:cubicBezTo>
                    <a:pt x="68" y="44"/>
                    <a:pt x="79" y="69"/>
                    <a:pt x="60" y="95"/>
                  </a:cubicBezTo>
                  <a:cubicBezTo>
                    <a:pt x="53" y="105"/>
                    <a:pt x="37" y="92"/>
                    <a:pt x="25" y="90"/>
                  </a:cubicBezTo>
                  <a:cubicBezTo>
                    <a:pt x="20" y="87"/>
                    <a:pt x="13" y="85"/>
                    <a:pt x="10" y="80"/>
                  </a:cubicBezTo>
                  <a:cubicBezTo>
                    <a:pt x="4" y="71"/>
                    <a:pt x="0" y="50"/>
                    <a:pt x="0" y="50"/>
                  </a:cubicBezTo>
                  <a:cubicBezTo>
                    <a:pt x="6" y="10"/>
                    <a:pt x="1" y="26"/>
                    <a:pt x="10" y="0"/>
                  </a:cubicBezTo>
                  <a:close/>
                </a:path>
              </a:pathLst>
            </a:custGeom>
            <a:noFill/>
            <a:ln w="28575" cmpd="sng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5" name="Line 7"/>
            <p:cNvSpPr>
              <a:spLocks noChangeShapeType="1"/>
            </p:cNvSpPr>
            <p:nvPr/>
          </p:nvSpPr>
          <p:spPr bwMode="auto">
            <a:xfrm flipH="1" flipV="1">
              <a:off x="2016" y="1632"/>
              <a:ext cx="192" cy="192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2819400" y="4267200"/>
            <a:ext cx="609600" cy="381000"/>
            <a:chOff x="1776" y="2688"/>
            <a:chExt cx="384" cy="240"/>
          </a:xfrm>
        </p:grpSpPr>
        <p:sp>
          <p:nvSpPr>
            <p:cNvPr id="12302" name="Freeform 10"/>
            <p:cNvSpPr>
              <a:spLocks/>
            </p:cNvSpPr>
            <p:nvPr/>
          </p:nvSpPr>
          <p:spPr bwMode="auto">
            <a:xfrm>
              <a:off x="2064" y="2773"/>
              <a:ext cx="96" cy="155"/>
            </a:xfrm>
            <a:custGeom>
              <a:avLst/>
              <a:gdLst>
                <a:gd name="T0" fmla="*/ 10 w 140"/>
                <a:gd name="T1" fmla="*/ 0 h 155"/>
                <a:gd name="T2" fmla="*/ 8 w 140"/>
                <a:gd name="T3" fmla="*/ 45 h 155"/>
                <a:gd name="T4" fmla="*/ 7 w 140"/>
                <a:gd name="T5" fmla="*/ 75 h 155"/>
                <a:gd name="T6" fmla="*/ 1 w 140"/>
                <a:gd name="T7" fmla="*/ 80 h 155"/>
                <a:gd name="T8" fmla="*/ 2 w 140"/>
                <a:gd name="T9" fmla="*/ 140 h 155"/>
                <a:gd name="T10" fmla="*/ 21 w 140"/>
                <a:gd name="T11" fmla="*/ 155 h 155"/>
                <a:gd name="T12" fmla="*/ 19 w 140"/>
                <a:gd name="T13" fmla="*/ 72 h 155"/>
                <a:gd name="T14" fmla="*/ 19 w 140"/>
                <a:gd name="T15" fmla="*/ 24 h 155"/>
                <a:gd name="T16" fmla="*/ 10 w 140"/>
                <a:gd name="T17" fmla="*/ 0 h 1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0"/>
                <a:gd name="T28" fmla="*/ 0 h 155"/>
                <a:gd name="T29" fmla="*/ 140 w 140"/>
                <a:gd name="T30" fmla="*/ 155 h 1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0" h="155">
                  <a:moveTo>
                    <a:pt x="69" y="0"/>
                  </a:moveTo>
                  <a:cubicBezTo>
                    <a:pt x="64" y="16"/>
                    <a:pt x="53" y="28"/>
                    <a:pt x="49" y="45"/>
                  </a:cubicBezTo>
                  <a:cubicBezTo>
                    <a:pt x="47" y="55"/>
                    <a:pt x="52" y="68"/>
                    <a:pt x="44" y="75"/>
                  </a:cubicBezTo>
                  <a:cubicBezTo>
                    <a:pt x="35" y="83"/>
                    <a:pt x="21" y="78"/>
                    <a:pt x="9" y="80"/>
                  </a:cubicBezTo>
                  <a:cubicBezTo>
                    <a:pt x="11" y="100"/>
                    <a:pt x="0" y="126"/>
                    <a:pt x="14" y="140"/>
                  </a:cubicBezTo>
                  <a:cubicBezTo>
                    <a:pt x="19" y="145"/>
                    <a:pt x="131" y="155"/>
                    <a:pt x="140" y="155"/>
                  </a:cubicBezTo>
                  <a:lnTo>
                    <a:pt x="125" y="72"/>
                  </a:lnTo>
                  <a:lnTo>
                    <a:pt x="125" y="24"/>
                  </a:lnTo>
                  <a:lnTo>
                    <a:pt x="69" y="0"/>
                  </a:lnTo>
                  <a:close/>
                </a:path>
              </a:pathLst>
            </a:custGeom>
            <a:noFill/>
            <a:ln w="28575" cmpd="sng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3" name="Line 7"/>
            <p:cNvSpPr>
              <a:spLocks noChangeShapeType="1"/>
            </p:cNvSpPr>
            <p:nvPr/>
          </p:nvSpPr>
          <p:spPr bwMode="auto">
            <a:xfrm flipH="1" flipV="1">
              <a:off x="1776" y="2688"/>
              <a:ext cx="288" cy="144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3429000" y="3581400"/>
            <a:ext cx="487363" cy="493713"/>
            <a:chOff x="2160" y="2256"/>
            <a:chExt cx="307" cy="311"/>
          </a:xfrm>
        </p:grpSpPr>
        <p:sp>
          <p:nvSpPr>
            <p:cNvPr id="12300" name="Line 7"/>
            <p:cNvSpPr>
              <a:spLocks noChangeShapeType="1"/>
            </p:cNvSpPr>
            <p:nvPr/>
          </p:nvSpPr>
          <p:spPr bwMode="auto">
            <a:xfrm flipH="1" flipV="1">
              <a:off x="2160" y="2256"/>
              <a:ext cx="192" cy="144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Freeform 22"/>
            <p:cNvSpPr>
              <a:spLocks/>
            </p:cNvSpPr>
            <p:nvPr/>
          </p:nvSpPr>
          <p:spPr bwMode="auto">
            <a:xfrm>
              <a:off x="2296" y="2404"/>
              <a:ext cx="171" cy="163"/>
            </a:xfrm>
            <a:custGeom>
              <a:avLst/>
              <a:gdLst>
                <a:gd name="T0" fmla="*/ 112 w 171"/>
                <a:gd name="T1" fmla="*/ 4 h 163"/>
                <a:gd name="T2" fmla="*/ 129 w 171"/>
                <a:gd name="T3" fmla="*/ 20 h 163"/>
                <a:gd name="T4" fmla="*/ 143 w 171"/>
                <a:gd name="T5" fmla="*/ 24 h 163"/>
                <a:gd name="T6" fmla="*/ 148 w 171"/>
                <a:gd name="T7" fmla="*/ 108 h 163"/>
                <a:gd name="T8" fmla="*/ 42 w 171"/>
                <a:gd name="T9" fmla="*/ 127 h 163"/>
                <a:gd name="T10" fmla="*/ 50 w 171"/>
                <a:gd name="T11" fmla="*/ 30 h 163"/>
                <a:gd name="T12" fmla="*/ 112 w 171"/>
                <a:gd name="T13" fmla="*/ 4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1"/>
                <a:gd name="T22" fmla="*/ 0 h 163"/>
                <a:gd name="T23" fmla="*/ 171 w 171"/>
                <a:gd name="T24" fmla="*/ 163 h 1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1" h="163">
                  <a:moveTo>
                    <a:pt x="112" y="4"/>
                  </a:moveTo>
                  <a:cubicBezTo>
                    <a:pt x="114" y="12"/>
                    <a:pt x="124" y="13"/>
                    <a:pt x="129" y="20"/>
                  </a:cubicBezTo>
                  <a:cubicBezTo>
                    <a:pt x="131" y="24"/>
                    <a:pt x="142" y="20"/>
                    <a:pt x="143" y="24"/>
                  </a:cubicBezTo>
                  <a:cubicBezTo>
                    <a:pt x="150" y="80"/>
                    <a:pt x="171" y="88"/>
                    <a:pt x="148" y="108"/>
                  </a:cubicBezTo>
                  <a:cubicBezTo>
                    <a:pt x="129" y="163"/>
                    <a:pt x="144" y="133"/>
                    <a:pt x="42" y="127"/>
                  </a:cubicBezTo>
                  <a:cubicBezTo>
                    <a:pt x="0" y="68"/>
                    <a:pt x="3" y="44"/>
                    <a:pt x="50" y="30"/>
                  </a:cubicBezTo>
                  <a:cubicBezTo>
                    <a:pt x="71" y="0"/>
                    <a:pt x="86" y="16"/>
                    <a:pt x="112" y="4"/>
                  </a:cubicBezTo>
                  <a:close/>
                </a:path>
              </a:pathLst>
            </a:custGeom>
            <a:noFill/>
            <a:ln w="28575" cmpd="sng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610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1219200"/>
            <a:ext cx="165735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105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1828800"/>
            <a:ext cx="1874838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10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2590800"/>
            <a:ext cx="1874838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10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0400" y="3200400"/>
            <a:ext cx="1874838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6" descr="ser003img0001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1219200"/>
            <a:ext cx="5334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ImageAnnotations</a:t>
            </a: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2667000" y="3733800"/>
            <a:ext cx="482600" cy="417513"/>
            <a:chOff x="1680" y="2352"/>
            <a:chExt cx="304" cy="263"/>
          </a:xfrm>
        </p:grpSpPr>
        <p:sp>
          <p:nvSpPr>
            <p:cNvPr id="13325" name="Line 7"/>
            <p:cNvSpPr>
              <a:spLocks noChangeShapeType="1"/>
            </p:cNvSpPr>
            <p:nvPr/>
          </p:nvSpPr>
          <p:spPr bwMode="auto">
            <a:xfrm flipH="1" flipV="1">
              <a:off x="1680" y="2352"/>
              <a:ext cx="192" cy="144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Freeform 6"/>
            <p:cNvSpPr>
              <a:spLocks/>
            </p:cNvSpPr>
            <p:nvPr/>
          </p:nvSpPr>
          <p:spPr bwMode="auto">
            <a:xfrm>
              <a:off x="1872" y="2476"/>
              <a:ext cx="112" cy="139"/>
            </a:xfrm>
            <a:custGeom>
              <a:avLst/>
              <a:gdLst>
                <a:gd name="T0" fmla="*/ 68 w 112"/>
                <a:gd name="T1" fmla="*/ 20 h 139"/>
                <a:gd name="T2" fmla="*/ 93 w 112"/>
                <a:gd name="T3" fmla="*/ 46 h 139"/>
                <a:gd name="T4" fmla="*/ 93 w 112"/>
                <a:gd name="T5" fmla="*/ 82 h 139"/>
                <a:gd name="T6" fmla="*/ 90 w 112"/>
                <a:gd name="T7" fmla="*/ 108 h 139"/>
                <a:gd name="T8" fmla="*/ 79 w 112"/>
                <a:gd name="T9" fmla="*/ 119 h 139"/>
                <a:gd name="T10" fmla="*/ 22 w 112"/>
                <a:gd name="T11" fmla="*/ 124 h 139"/>
                <a:gd name="T12" fmla="*/ 43 w 112"/>
                <a:gd name="T13" fmla="*/ 36 h 139"/>
                <a:gd name="T14" fmla="*/ 68 w 112"/>
                <a:gd name="T15" fmla="*/ 20 h 1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2"/>
                <a:gd name="T25" fmla="*/ 0 h 139"/>
                <a:gd name="T26" fmla="*/ 112 w 112"/>
                <a:gd name="T27" fmla="*/ 139 h 13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2" h="139">
                  <a:moveTo>
                    <a:pt x="68" y="20"/>
                  </a:moveTo>
                  <a:cubicBezTo>
                    <a:pt x="70" y="30"/>
                    <a:pt x="89" y="37"/>
                    <a:pt x="93" y="46"/>
                  </a:cubicBezTo>
                  <a:cubicBezTo>
                    <a:pt x="95" y="51"/>
                    <a:pt x="92" y="76"/>
                    <a:pt x="93" y="82"/>
                  </a:cubicBezTo>
                  <a:cubicBezTo>
                    <a:pt x="85" y="139"/>
                    <a:pt x="112" y="83"/>
                    <a:pt x="90" y="108"/>
                  </a:cubicBezTo>
                  <a:cubicBezTo>
                    <a:pt x="91" y="117"/>
                    <a:pt x="90" y="116"/>
                    <a:pt x="79" y="119"/>
                  </a:cubicBezTo>
                  <a:cubicBezTo>
                    <a:pt x="68" y="122"/>
                    <a:pt x="28" y="138"/>
                    <a:pt x="22" y="124"/>
                  </a:cubicBezTo>
                  <a:cubicBezTo>
                    <a:pt x="6" y="62"/>
                    <a:pt x="0" y="54"/>
                    <a:pt x="43" y="36"/>
                  </a:cubicBezTo>
                  <a:cubicBezTo>
                    <a:pt x="62" y="0"/>
                    <a:pt x="43" y="35"/>
                    <a:pt x="68" y="20"/>
                  </a:cubicBezTo>
                  <a:close/>
                </a:path>
              </a:pathLst>
            </a:custGeom>
            <a:noFill/>
            <a:ln w="28575" cmpd="sng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3276600" y="2819400"/>
            <a:ext cx="423863" cy="474663"/>
            <a:chOff x="2064" y="1776"/>
            <a:chExt cx="267" cy="299"/>
          </a:xfrm>
        </p:grpSpPr>
        <p:sp>
          <p:nvSpPr>
            <p:cNvPr id="13323" name="Freeform 8"/>
            <p:cNvSpPr>
              <a:spLocks/>
            </p:cNvSpPr>
            <p:nvPr/>
          </p:nvSpPr>
          <p:spPr bwMode="auto">
            <a:xfrm>
              <a:off x="2208" y="1945"/>
              <a:ext cx="123" cy="130"/>
            </a:xfrm>
            <a:custGeom>
              <a:avLst/>
              <a:gdLst>
                <a:gd name="T0" fmla="*/ 34 w 123"/>
                <a:gd name="T1" fmla="*/ 22 h 130"/>
                <a:gd name="T2" fmla="*/ 106 w 123"/>
                <a:gd name="T3" fmla="*/ 11 h 130"/>
                <a:gd name="T4" fmla="*/ 96 w 123"/>
                <a:gd name="T5" fmla="*/ 120 h 130"/>
                <a:gd name="T6" fmla="*/ 23 w 123"/>
                <a:gd name="T7" fmla="*/ 125 h 130"/>
                <a:gd name="T8" fmla="*/ 14 w 123"/>
                <a:gd name="T9" fmla="*/ 94 h 130"/>
                <a:gd name="T10" fmla="*/ 0 w 123"/>
                <a:gd name="T11" fmla="*/ 63 h 130"/>
                <a:gd name="T12" fmla="*/ 34 w 123"/>
                <a:gd name="T13" fmla="*/ 22 h 1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3"/>
                <a:gd name="T22" fmla="*/ 0 h 130"/>
                <a:gd name="T23" fmla="*/ 123 w 123"/>
                <a:gd name="T24" fmla="*/ 130 h 13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3" h="130">
                  <a:moveTo>
                    <a:pt x="34" y="22"/>
                  </a:moveTo>
                  <a:cubicBezTo>
                    <a:pt x="60" y="28"/>
                    <a:pt x="82" y="0"/>
                    <a:pt x="106" y="11"/>
                  </a:cubicBezTo>
                  <a:cubicBezTo>
                    <a:pt x="117" y="36"/>
                    <a:pt x="123" y="93"/>
                    <a:pt x="96" y="120"/>
                  </a:cubicBezTo>
                  <a:cubicBezTo>
                    <a:pt x="85" y="130"/>
                    <a:pt x="40" y="127"/>
                    <a:pt x="23" y="125"/>
                  </a:cubicBezTo>
                  <a:cubicBezTo>
                    <a:pt x="16" y="122"/>
                    <a:pt x="19" y="99"/>
                    <a:pt x="14" y="94"/>
                  </a:cubicBezTo>
                  <a:cubicBezTo>
                    <a:pt x="6" y="84"/>
                    <a:pt x="0" y="63"/>
                    <a:pt x="0" y="63"/>
                  </a:cubicBezTo>
                  <a:cubicBezTo>
                    <a:pt x="9" y="22"/>
                    <a:pt x="21" y="48"/>
                    <a:pt x="34" y="22"/>
                  </a:cubicBezTo>
                  <a:close/>
                </a:path>
              </a:pathLst>
            </a:custGeom>
            <a:noFill/>
            <a:ln w="28575" cmpd="sng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4" name="Line 7"/>
            <p:cNvSpPr>
              <a:spLocks noChangeShapeType="1"/>
            </p:cNvSpPr>
            <p:nvPr/>
          </p:nvSpPr>
          <p:spPr bwMode="auto">
            <a:xfrm flipH="1" flipV="1">
              <a:off x="2064" y="1776"/>
              <a:ext cx="192" cy="192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712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1371600"/>
            <a:ext cx="2163763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23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84938" y="2743200"/>
            <a:ext cx="230822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0" name="Text Box 21"/>
          <p:cNvSpPr txBox="1">
            <a:spLocks noChangeArrowheads="1"/>
          </p:cNvSpPr>
          <p:nvPr/>
        </p:nvSpPr>
        <p:spPr bwMode="auto">
          <a:xfrm>
            <a:off x="1676400" y="6096000"/>
            <a:ext cx="777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2001</a:t>
            </a:r>
          </a:p>
        </p:txBody>
      </p:sp>
      <p:sp>
        <p:nvSpPr>
          <p:cNvPr id="47126" name="Text Box 22"/>
          <p:cNvSpPr txBox="1">
            <a:spLocks noChangeArrowheads="1"/>
          </p:cNvSpPr>
          <p:nvPr/>
        </p:nvSpPr>
        <p:spPr bwMode="auto">
          <a:xfrm>
            <a:off x="7832725" y="1230313"/>
            <a:ext cx="325438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47127" name="Text Box 23"/>
          <p:cNvSpPr txBox="1">
            <a:spLocks noChangeArrowheads="1"/>
          </p:cNvSpPr>
          <p:nvPr/>
        </p:nvSpPr>
        <p:spPr bwMode="auto">
          <a:xfrm>
            <a:off x="8534400" y="2514600"/>
            <a:ext cx="325438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2</a:t>
            </a:r>
          </a:p>
        </p:txBody>
      </p:sp>
    </p:spTree>
    <p:custDataLst>
      <p:tags r:id="rId1"/>
    </p:custDataLst>
  </p:cSld>
  <p:clrMapOvr>
    <a:masterClrMapping/>
  </p:clrMapOvr>
  <p:transition advTm="1231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26" grpId="0" animBg="1"/>
      <p:bldP spid="471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9" descr="ser003img000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1219200"/>
            <a:ext cx="5334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ImageAnnotations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794000" y="4154488"/>
            <a:ext cx="527050" cy="528637"/>
            <a:chOff x="1760" y="2617"/>
            <a:chExt cx="332" cy="333"/>
          </a:xfrm>
        </p:grpSpPr>
        <p:sp>
          <p:nvSpPr>
            <p:cNvPr id="14349" name="Line 7"/>
            <p:cNvSpPr>
              <a:spLocks noChangeShapeType="1"/>
            </p:cNvSpPr>
            <p:nvPr/>
          </p:nvSpPr>
          <p:spPr bwMode="auto">
            <a:xfrm flipH="1" flipV="1">
              <a:off x="1760" y="2617"/>
              <a:ext cx="192" cy="144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6"/>
            <p:cNvSpPr>
              <a:spLocks/>
            </p:cNvSpPr>
            <p:nvPr/>
          </p:nvSpPr>
          <p:spPr bwMode="auto">
            <a:xfrm>
              <a:off x="1925" y="2741"/>
              <a:ext cx="167" cy="209"/>
            </a:xfrm>
            <a:custGeom>
              <a:avLst/>
              <a:gdLst>
                <a:gd name="T0" fmla="*/ 95 w 167"/>
                <a:gd name="T1" fmla="*/ 20 h 209"/>
                <a:gd name="T2" fmla="*/ 120 w 167"/>
                <a:gd name="T3" fmla="*/ 46 h 209"/>
                <a:gd name="T4" fmla="*/ 140 w 167"/>
                <a:gd name="T5" fmla="*/ 82 h 209"/>
                <a:gd name="T6" fmla="*/ 145 w 167"/>
                <a:gd name="T7" fmla="*/ 118 h 209"/>
                <a:gd name="T8" fmla="*/ 104 w 167"/>
                <a:gd name="T9" fmla="*/ 206 h 209"/>
                <a:gd name="T10" fmla="*/ 16 w 167"/>
                <a:gd name="T11" fmla="*/ 139 h 209"/>
                <a:gd name="T12" fmla="*/ 70 w 167"/>
                <a:gd name="T13" fmla="*/ 36 h 209"/>
                <a:gd name="T14" fmla="*/ 95 w 167"/>
                <a:gd name="T15" fmla="*/ 20 h 2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7"/>
                <a:gd name="T25" fmla="*/ 0 h 209"/>
                <a:gd name="T26" fmla="*/ 167 w 167"/>
                <a:gd name="T27" fmla="*/ 209 h 2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7" h="209">
                  <a:moveTo>
                    <a:pt x="95" y="20"/>
                  </a:moveTo>
                  <a:cubicBezTo>
                    <a:pt x="97" y="30"/>
                    <a:pt x="116" y="37"/>
                    <a:pt x="120" y="46"/>
                  </a:cubicBezTo>
                  <a:cubicBezTo>
                    <a:pt x="122" y="51"/>
                    <a:pt x="139" y="76"/>
                    <a:pt x="140" y="82"/>
                  </a:cubicBezTo>
                  <a:cubicBezTo>
                    <a:pt x="132" y="139"/>
                    <a:pt x="167" y="93"/>
                    <a:pt x="145" y="118"/>
                  </a:cubicBezTo>
                  <a:cubicBezTo>
                    <a:pt x="146" y="127"/>
                    <a:pt x="125" y="203"/>
                    <a:pt x="104" y="206"/>
                  </a:cubicBezTo>
                  <a:cubicBezTo>
                    <a:pt x="83" y="209"/>
                    <a:pt x="22" y="167"/>
                    <a:pt x="16" y="139"/>
                  </a:cubicBezTo>
                  <a:cubicBezTo>
                    <a:pt x="0" y="77"/>
                    <a:pt x="27" y="54"/>
                    <a:pt x="70" y="36"/>
                  </a:cubicBezTo>
                  <a:cubicBezTo>
                    <a:pt x="89" y="0"/>
                    <a:pt x="70" y="35"/>
                    <a:pt x="95" y="20"/>
                  </a:cubicBezTo>
                  <a:close/>
                </a:path>
              </a:pathLst>
            </a:custGeom>
            <a:noFill/>
            <a:ln w="28575" cmpd="sng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352800" y="3276600"/>
            <a:ext cx="520700" cy="542925"/>
            <a:chOff x="2112" y="2064"/>
            <a:chExt cx="328" cy="342"/>
          </a:xfrm>
        </p:grpSpPr>
        <p:sp>
          <p:nvSpPr>
            <p:cNvPr id="14347" name="Freeform 7"/>
            <p:cNvSpPr>
              <a:spLocks/>
            </p:cNvSpPr>
            <p:nvPr/>
          </p:nvSpPr>
          <p:spPr bwMode="auto">
            <a:xfrm>
              <a:off x="2280" y="2256"/>
              <a:ext cx="160" cy="150"/>
            </a:xfrm>
            <a:custGeom>
              <a:avLst/>
              <a:gdLst>
                <a:gd name="T0" fmla="*/ 45 w 160"/>
                <a:gd name="T1" fmla="*/ 12 h 150"/>
                <a:gd name="T2" fmla="*/ 130 w 160"/>
                <a:gd name="T3" fmla="*/ 11 h 150"/>
                <a:gd name="T4" fmla="*/ 133 w 160"/>
                <a:gd name="T5" fmla="*/ 131 h 150"/>
                <a:gd name="T6" fmla="*/ 66 w 160"/>
                <a:gd name="T7" fmla="*/ 147 h 150"/>
                <a:gd name="T8" fmla="*/ 47 w 160"/>
                <a:gd name="T9" fmla="*/ 125 h 150"/>
                <a:gd name="T10" fmla="*/ 8 w 160"/>
                <a:gd name="T11" fmla="*/ 90 h 150"/>
                <a:gd name="T12" fmla="*/ 24 w 160"/>
                <a:gd name="T13" fmla="*/ 63 h 150"/>
                <a:gd name="T14" fmla="*/ 45 w 160"/>
                <a:gd name="T15" fmla="*/ 12 h 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0"/>
                <a:gd name="T25" fmla="*/ 0 h 150"/>
                <a:gd name="T26" fmla="*/ 160 w 160"/>
                <a:gd name="T27" fmla="*/ 150 h 15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0" h="150">
                  <a:moveTo>
                    <a:pt x="45" y="12"/>
                  </a:moveTo>
                  <a:cubicBezTo>
                    <a:pt x="71" y="18"/>
                    <a:pt x="106" y="0"/>
                    <a:pt x="130" y="11"/>
                  </a:cubicBezTo>
                  <a:cubicBezTo>
                    <a:pt x="141" y="36"/>
                    <a:pt x="160" y="104"/>
                    <a:pt x="133" y="131"/>
                  </a:cubicBezTo>
                  <a:cubicBezTo>
                    <a:pt x="122" y="150"/>
                    <a:pt x="80" y="148"/>
                    <a:pt x="66" y="147"/>
                  </a:cubicBezTo>
                  <a:cubicBezTo>
                    <a:pt x="52" y="146"/>
                    <a:pt x="57" y="134"/>
                    <a:pt x="47" y="125"/>
                  </a:cubicBezTo>
                  <a:cubicBezTo>
                    <a:pt x="40" y="122"/>
                    <a:pt x="13" y="95"/>
                    <a:pt x="8" y="90"/>
                  </a:cubicBezTo>
                  <a:cubicBezTo>
                    <a:pt x="0" y="80"/>
                    <a:pt x="24" y="63"/>
                    <a:pt x="24" y="63"/>
                  </a:cubicBezTo>
                  <a:cubicBezTo>
                    <a:pt x="33" y="22"/>
                    <a:pt x="32" y="38"/>
                    <a:pt x="45" y="12"/>
                  </a:cubicBezTo>
                  <a:close/>
                </a:path>
              </a:pathLst>
            </a:custGeom>
            <a:noFill/>
            <a:ln w="28575" cmpd="sng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Line 7"/>
            <p:cNvSpPr>
              <a:spLocks noChangeShapeType="1"/>
            </p:cNvSpPr>
            <p:nvPr/>
          </p:nvSpPr>
          <p:spPr bwMode="auto">
            <a:xfrm flipH="1" flipV="1">
              <a:off x="2112" y="2064"/>
              <a:ext cx="192" cy="192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42" name="Text Box 12"/>
          <p:cNvSpPr txBox="1">
            <a:spLocks noChangeArrowheads="1"/>
          </p:cNvSpPr>
          <p:nvPr/>
        </p:nvSpPr>
        <p:spPr bwMode="auto">
          <a:xfrm>
            <a:off x="1676400" y="6096000"/>
            <a:ext cx="777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2003</a:t>
            </a:r>
          </a:p>
        </p:txBody>
      </p:sp>
      <p:pic>
        <p:nvPicPr>
          <p:cNvPr id="49165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2600" y="1295400"/>
            <a:ext cx="230822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6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84938" y="2743200"/>
            <a:ext cx="230822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67" name="Text Box 15"/>
          <p:cNvSpPr txBox="1">
            <a:spLocks noChangeArrowheads="1"/>
          </p:cNvSpPr>
          <p:nvPr/>
        </p:nvSpPr>
        <p:spPr bwMode="auto">
          <a:xfrm>
            <a:off x="7832725" y="1230313"/>
            <a:ext cx="325438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49168" name="Text Box 16"/>
          <p:cNvSpPr txBox="1">
            <a:spLocks noChangeArrowheads="1"/>
          </p:cNvSpPr>
          <p:nvPr/>
        </p:nvSpPr>
        <p:spPr bwMode="auto">
          <a:xfrm>
            <a:off x="8686800" y="2667000"/>
            <a:ext cx="325438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4</a:t>
            </a:r>
          </a:p>
        </p:txBody>
      </p:sp>
    </p:spTree>
    <p:custDataLst>
      <p:tags r:id="rId1"/>
    </p:custDataLst>
  </p:cSld>
  <p:clrMapOvr>
    <a:masterClrMapping/>
  </p:clrMapOvr>
  <p:transition advTm="1631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7" grpId="0" animBg="1"/>
      <p:bldP spid="491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AnnotationOfAnnotations</a:t>
            </a:r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2717800" y="5373688"/>
            <a:ext cx="527050" cy="528637"/>
            <a:chOff x="1760" y="2617"/>
            <a:chExt cx="332" cy="333"/>
          </a:xfrm>
        </p:grpSpPr>
        <p:sp>
          <p:nvSpPr>
            <p:cNvPr id="15380" name="Line 7"/>
            <p:cNvSpPr>
              <a:spLocks noChangeShapeType="1"/>
            </p:cNvSpPr>
            <p:nvPr/>
          </p:nvSpPr>
          <p:spPr bwMode="auto">
            <a:xfrm flipH="1" flipV="1">
              <a:off x="1760" y="2617"/>
              <a:ext cx="192" cy="144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Freeform 6"/>
            <p:cNvSpPr>
              <a:spLocks/>
            </p:cNvSpPr>
            <p:nvPr/>
          </p:nvSpPr>
          <p:spPr bwMode="auto">
            <a:xfrm>
              <a:off x="1925" y="2741"/>
              <a:ext cx="167" cy="209"/>
            </a:xfrm>
            <a:custGeom>
              <a:avLst/>
              <a:gdLst>
                <a:gd name="T0" fmla="*/ 95 w 167"/>
                <a:gd name="T1" fmla="*/ 20 h 209"/>
                <a:gd name="T2" fmla="*/ 120 w 167"/>
                <a:gd name="T3" fmla="*/ 46 h 209"/>
                <a:gd name="T4" fmla="*/ 140 w 167"/>
                <a:gd name="T5" fmla="*/ 82 h 209"/>
                <a:gd name="T6" fmla="*/ 145 w 167"/>
                <a:gd name="T7" fmla="*/ 118 h 209"/>
                <a:gd name="T8" fmla="*/ 104 w 167"/>
                <a:gd name="T9" fmla="*/ 206 h 209"/>
                <a:gd name="T10" fmla="*/ 16 w 167"/>
                <a:gd name="T11" fmla="*/ 139 h 209"/>
                <a:gd name="T12" fmla="*/ 70 w 167"/>
                <a:gd name="T13" fmla="*/ 36 h 209"/>
                <a:gd name="T14" fmla="*/ 95 w 167"/>
                <a:gd name="T15" fmla="*/ 20 h 2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7"/>
                <a:gd name="T25" fmla="*/ 0 h 209"/>
                <a:gd name="T26" fmla="*/ 167 w 167"/>
                <a:gd name="T27" fmla="*/ 209 h 2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7" h="209">
                  <a:moveTo>
                    <a:pt x="95" y="20"/>
                  </a:moveTo>
                  <a:cubicBezTo>
                    <a:pt x="97" y="30"/>
                    <a:pt x="116" y="37"/>
                    <a:pt x="120" y="46"/>
                  </a:cubicBezTo>
                  <a:cubicBezTo>
                    <a:pt x="122" y="51"/>
                    <a:pt x="139" y="76"/>
                    <a:pt x="140" y="82"/>
                  </a:cubicBezTo>
                  <a:cubicBezTo>
                    <a:pt x="132" y="139"/>
                    <a:pt x="167" y="93"/>
                    <a:pt x="145" y="118"/>
                  </a:cubicBezTo>
                  <a:cubicBezTo>
                    <a:pt x="146" y="127"/>
                    <a:pt x="125" y="203"/>
                    <a:pt x="104" y="206"/>
                  </a:cubicBezTo>
                  <a:cubicBezTo>
                    <a:pt x="83" y="209"/>
                    <a:pt x="22" y="167"/>
                    <a:pt x="16" y="139"/>
                  </a:cubicBezTo>
                  <a:cubicBezTo>
                    <a:pt x="0" y="77"/>
                    <a:pt x="27" y="54"/>
                    <a:pt x="70" y="36"/>
                  </a:cubicBezTo>
                  <a:cubicBezTo>
                    <a:pt x="89" y="0"/>
                    <a:pt x="70" y="35"/>
                    <a:pt x="95" y="20"/>
                  </a:cubicBezTo>
                  <a:close/>
                </a:path>
              </a:pathLst>
            </a:custGeom>
            <a:noFill/>
            <a:ln w="28575" cmpd="sng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3276600" y="4495800"/>
            <a:ext cx="520700" cy="542925"/>
            <a:chOff x="2112" y="2064"/>
            <a:chExt cx="328" cy="342"/>
          </a:xfrm>
        </p:grpSpPr>
        <p:sp>
          <p:nvSpPr>
            <p:cNvPr id="15378" name="Freeform 8"/>
            <p:cNvSpPr>
              <a:spLocks/>
            </p:cNvSpPr>
            <p:nvPr/>
          </p:nvSpPr>
          <p:spPr bwMode="auto">
            <a:xfrm>
              <a:off x="2280" y="2256"/>
              <a:ext cx="160" cy="150"/>
            </a:xfrm>
            <a:custGeom>
              <a:avLst/>
              <a:gdLst>
                <a:gd name="T0" fmla="*/ 45 w 160"/>
                <a:gd name="T1" fmla="*/ 12 h 150"/>
                <a:gd name="T2" fmla="*/ 130 w 160"/>
                <a:gd name="T3" fmla="*/ 11 h 150"/>
                <a:gd name="T4" fmla="*/ 133 w 160"/>
                <a:gd name="T5" fmla="*/ 131 h 150"/>
                <a:gd name="T6" fmla="*/ 66 w 160"/>
                <a:gd name="T7" fmla="*/ 147 h 150"/>
                <a:gd name="T8" fmla="*/ 47 w 160"/>
                <a:gd name="T9" fmla="*/ 125 h 150"/>
                <a:gd name="T10" fmla="*/ 8 w 160"/>
                <a:gd name="T11" fmla="*/ 90 h 150"/>
                <a:gd name="T12" fmla="*/ 24 w 160"/>
                <a:gd name="T13" fmla="*/ 63 h 150"/>
                <a:gd name="T14" fmla="*/ 45 w 160"/>
                <a:gd name="T15" fmla="*/ 12 h 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0"/>
                <a:gd name="T25" fmla="*/ 0 h 150"/>
                <a:gd name="T26" fmla="*/ 160 w 160"/>
                <a:gd name="T27" fmla="*/ 150 h 15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0" h="150">
                  <a:moveTo>
                    <a:pt x="45" y="12"/>
                  </a:moveTo>
                  <a:cubicBezTo>
                    <a:pt x="71" y="18"/>
                    <a:pt x="106" y="0"/>
                    <a:pt x="130" y="11"/>
                  </a:cubicBezTo>
                  <a:cubicBezTo>
                    <a:pt x="141" y="36"/>
                    <a:pt x="160" y="104"/>
                    <a:pt x="133" y="131"/>
                  </a:cubicBezTo>
                  <a:cubicBezTo>
                    <a:pt x="122" y="150"/>
                    <a:pt x="80" y="148"/>
                    <a:pt x="66" y="147"/>
                  </a:cubicBezTo>
                  <a:cubicBezTo>
                    <a:pt x="52" y="146"/>
                    <a:pt x="57" y="134"/>
                    <a:pt x="47" y="125"/>
                  </a:cubicBezTo>
                  <a:cubicBezTo>
                    <a:pt x="40" y="122"/>
                    <a:pt x="13" y="95"/>
                    <a:pt x="8" y="90"/>
                  </a:cubicBezTo>
                  <a:cubicBezTo>
                    <a:pt x="0" y="80"/>
                    <a:pt x="24" y="63"/>
                    <a:pt x="24" y="63"/>
                  </a:cubicBezTo>
                  <a:cubicBezTo>
                    <a:pt x="33" y="22"/>
                    <a:pt x="32" y="38"/>
                    <a:pt x="45" y="12"/>
                  </a:cubicBezTo>
                  <a:close/>
                </a:path>
              </a:pathLst>
            </a:custGeom>
            <a:noFill/>
            <a:ln w="28575" cmpd="sng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Line 7"/>
            <p:cNvSpPr>
              <a:spLocks noChangeShapeType="1"/>
            </p:cNvSpPr>
            <p:nvPr/>
          </p:nvSpPr>
          <p:spPr bwMode="auto">
            <a:xfrm flipH="1" flipV="1">
              <a:off x="2112" y="2064"/>
              <a:ext cx="192" cy="192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018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4419600"/>
            <a:ext cx="20193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90" name="Text Box 14"/>
          <p:cNvSpPr txBox="1">
            <a:spLocks noChangeArrowheads="1"/>
          </p:cNvSpPr>
          <p:nvPr/>
        </p:nvSpPr>
        <p:spPr bwMode="auto">
          <a:xfrm>
            <a:off x="8305800" y="3810000"/>
            <a:ext cx="325438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4</a:t>
            </a:r>
          </a:p>
        </p:txBody>
      </p:sp>
      <p:pic>
        <p:nvPicPr>
          <p:cNvPr id="50191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3663" y="2895600"/>
            <a:ext cx="20193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9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6438" y="4343400"/>
            <a:ext cx="209232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93" name="Text Box 17"/>
          <p:cNvSpPr txBox="1">
            <a:spLocks noChangeArrowheads="1"/>
          </p:cNvSpPr>
          <p:nvPr/>
        </p:nvSpPr>
        <p:spPr bwMode="auto">
          <a:xfrm>
            <a:off x="3108325" y="2601913"/>
            <a:ext cx="325438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50194" name="Text Box 18"/>
          <p:cNvSpPr txBox="1">
            <a:spLocks noChangeArrowheads="1"/>
          </p:cNvSpPr>
          <p:nvPr/>
        </p:nvSpPr>
        <p:spPr bwMode="auto">
          <a:xfrm>
            <a:off x="3810000" y="3886200"/>
            <a:ext cx="325438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2</a:t>
            </a:r>
          </a:p>
        </p:txBody>
      </p:sp>
      <p:pic>
        <p:nvPicPr>
          <p:cNvPr id="50195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990600"/>
            <a:ext cx="1874838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2362200"/>
            <a:ext cx="20193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96" name="Line 6"/>
          <p:cNvSpPr>
            <a:spLocks noChangeShapeType="1"/>
          </p:cNvSpPr>
          <p:nvPr/>
        </p:nvSpPr>
        <p:spPr bwMode="auto">
          <a:xfrm flipV="1">
            <a:off x="3124200" y="2819400"/>
            <a:ext cx="533400" cy="6096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97" name="Line 6"/>
          <p:cNvSpPr>
            <a:spLocks noChangeShapeType="1"/>
          </p:cNvSpPr>
          <p:nvPr/>
        </p:nvSpPr>
        <p:spPr bwMode="auto">
          <a:xfrm flipV="1">
            <a:off x="3352800" y="2895600"/>
            <a:ext cx="762000" cy="15240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98" name="Line 6"/>
          <p:cNvSpPr>
            <a:spLocks noChangeShapeType="1"/>
          </p:cNvSpPr>
          <p:nvPr/>
        </p:nvSpPr>
        <p:spPr bwMode="auto">
          <a:xfrm flipH="1" flipV="1">
            <a:off x="4953000" y="2895600"/>
            <a:ext cx="762000" cy="6858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99" name="Line 6"/>
          <p:cNvSpPr>
            <a:spLocks noChangeShapeType="1"/>
          </p:cNvSpPr>
          <p:nvPr/>
        </p:nvSpPr>
        <p:spPr bwMode="auto">
          <a:xfrm flipH="1" flipV="1">
            <a:off x="4419600" y="2895600"/>
            <a:ext cx="1828800" cy="26670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89" name="Text Box 13"/>
          <p:cNvSpPr txBox="1">
            <a:spLocks noChangeArrowheads="1"/>
          </p:cNvSpPr>
          <p:nvPr/>
        </p:nvSpPr>
        <p:spPr bwMode="auto">
          <a:xfrm>
            <a:off x="7696200" y="2133600"/>
            <a:ext cx="325438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3</a:t>
            </a:r>
          </a:p>
        </p:txBody>
      </p:sp>
    </p:spTree>
    <p:custDataLst>
      <p:tags r:id="rId1"/>
    </p:custDataLst>
  </p:cSld>
  <p:clrMapOvr>
    <a:masterClrMapping/>
  </p:clrMapOvr>
  <p:transition advTm="1626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0" grpId="0" animBg="1"/>
      <p:bldP spid="50193" grpId="0" animBg="1"/>
      <p:bldP spid="50194" grpId="0" animBg="1"/>
      <p:bldP spid="50196" grpId="0" animBg="1"/>
      <p:bldP spid="50197" grpId="0" animBg="1"/>
      <p:bldP spid="50198" grpId="0" animBg="1"/>
      <p:bldP spid="5019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7" descr="AIM_v3_rv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066800"/>
            <a:ext cx="8839200" cy="591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AIM 3.0 Model</a:t>
            </a:r>
          </a:p>
        </p:txBody>
      </p:sp>
      <p:sp>
        <p:nvSpPr>
          <p:cNvPr id="45066" name="Text Box 14"/>
          <p:cNvSpPr txBox="1">
            <a:spLocks noChangeArrowheads="1"/>
          </p:cNvSpPr>
          <p:nvPr/>
        </p:nvSpPr>
        <p:spPr bwMode="auto">
          <a:xfrm>
            <a:off x="3505200" y="1600200"/>
            <a:ext cx="914400" cy="381000"/>
          </a:xfrm>
          <a:prstGeom prst="rect">
            <a:avLst/>
          </a:prstGeom>
          <a:solidFill>
            <a:srgbClr val="9966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 anchorCtr="1"/>
          <a:lstStyle/>
          <a:p>
            <a:pPr algn="ctr"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Equipment</a:t>
            </a:r>
          </a:p>
        </p:txBody>
      </p:sp>
      <p:sp>
        <p:nvSpPr>
          <p:cNvPr id="45067" name="Text Box 15"/>
          <p:cNvSpPr txBox="1">
            <a:spLocks noChangeArrowheads="1"/>
          </p:cNvSpPr>
          <p:nvPr/>
        </p:nvSpPr>
        <p:spPr bwMode="auto">
          <a:xfrm>
            <a:off x="4572000" y="1447800"/>
            <a:ext cx="609600" cy="381000"/>
          </a:xfrm>
          <a:prstGeom prst="rect">
            <a:avLst/>
          </a:prstGeom>
          <a:solidFill>
            <a:srgbClr val="6699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 anchorCtr="1"/>
          <a:lstStyle/>
          <a:p>
            <a:pPr algn="ctr">
              <a:defRPr/>
            </a:pPr>
            <a:endParaRPr lang="en-US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</a:rPr>
              <a:t>User</a:t>
            </a:r>
          </a:p>
        </p:txBody>
      </p:sp>
      <p:sp>
        <p:nvSpPr>
          <p:cNvPr id="45068" name="Text Box 16"/>
          <p:cNvSpPr txBox="1">
            <a:spLocks noChangeArrowheads="1"/>
          </p:cNvSpPr>
          <p:nvPr/>
        </p:nvSpPr>
        <p:spPr bwMode="auto">
          <a:xfrm>
            <a:off x="3886200" y="4724400"/>
            <a:ext cx="987425" cy="381000"/>
          </a:xfrm>
          <a:prstGeom prst="rect">
            <a:avLst/>
          </a:prstGeom>
          <a:solidFill>
            <a:srgbClr val="CC3300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endParaRPr lang="en-US" b="1">
              <a:solidFill>
                <a:srgbClr val="FF3300"/>
              </a:solidFill>
            </a:endParaRP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“web” Image</a:t>
            </a: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References</a:t>
            </a:r>
          </a:p>
        </p:txBody>
      </p:sp>
      <p:sp>
        <p:nvSpPr>
          <p:cNvPr id="45069" name="Text Box 17"/>
          <p:cNvSpPr txBox="1">
            <a:spLocks noChangeArrowheads="1"/>
          </p:cNvSpPr>
          <p:nvPr/>
        </p:nvSpPr>
        <p:spPr bwMode="auto">
          <a:xfrm>
            <a:off x="4343400" y="5181600"/>
            <a:ext cx="569913" cy="685800"/>
          </a:xfrm>
          <a:prstGeom prst="rect">
            <a:avLst/>
          </a:prstGeom>
          <a:solidFill>
            <a:srgbClr val="FF0066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endParaRPr lang="en-US" b="1">
              <a:solidFill>
                <a:srgbClr val="FF3300"/>
              </a:solidFill>
            </a:endParaRPr>
          </a:p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</a:rPr>
              <a:t>Person</a:t>
            </a:r>
          </a:p>
        </p:txBody>
      </p:sp>
      <p:sp>
        <p:nvSpPr>
          <p:cNvPr id="45071" name="Text Box 19"/>
          <p:cNvSpPr txBox="1">
            <a:spLocks noChangeArrowheads="1"/>
          </p:cNvSpPr>
          <p:nvPr/>
        </p:nvSpPr>
        <p:spPr bwMode="auto">
          <a:xfrm>
            <a:off x="5181600" y="3886200"/>
            <a:ext cx="3733800" cy="2209800"/>
          </a:xfrm>
          <a:prstGeom prst="rect">
            <a:avLst/>
          </a:prstGeom>
          <a:solidFill>
            <a:srgbClr val="FF6600">
              <a:alpha val="39999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</a:rPr>
              <a:t>Text</a:t>
            </a:r>
          </a:p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</a:rPr>
              <a:t>Geometric Shapes</a:t>
            </a:r>
          </a:p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</a:rPr>
              <a:t>(2D and 3D)</a:t>
            </a:r>
          </a:p>
        </p:txBody>
      </p:sp>
      <p:sp>
        <p:nvSpPr>
          <p:cNvPr id="45072" name="Text Box 20"/>
          <p:cNvSpPr txBox="1">
            <a:spLocks noChangeArrowheads="1"/>
          </p:cNvSpPr>
          <p:nvPr/>
        </p:nvSpPr>
        <p:spPr bwMode="auto">
          <a:xfrm>
            <a:off x="6400800" y="3429000"/>
            <a:ext cx="1143000" cy="304800"/>
          </a:xfrm>
          <a:prstGeom prst="rect">
            <a:avLst/>
          </a:prstGeom>
          <a:solidFill>
            <a:srgbClr val="808000">
              <a:alpha val="25000"/>
            </a:srgbClr>
          </a:solidFill>
          <a:ln w="38100">
            <a:noFill/>
            <a:prstDash val="sysDot"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endParaRPr lang="en-US" sz="2400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</a:rPr>
              <a:t>Inferences</a:t>
            </a:r>
          </a:p>
        </p:txBody>
      </p:sp>
      <p:sp>
        <p:nvSpPr>
          <p:cNvPr id="45074" name="Text Box 22"/>
          <p:cNvSpPr txBox="1">
            <a:spLocks noChangeArrowheads="1"/>
          </p:cNvSpPr>
          <p:nvPr/>
        </p:nvSpPr>
        <p:spPr bwMode="auto">
          <a:xfrm>
            <a:off x="5257800" y="990600"/>
            <a:ext cx="3657600" cy="1371600"/>
          </a:xfrm>
          <a:prstGeom prst="rect">
            <a:avLst/>
          </a:prstGeom>
          <a:solidFill>
            <a:srgbClr val="C0504D">
              <a:alpha val="39999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endParaRPr lang="en-US" sz="2400" b="1"/>
          </a:p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</a:rPr>
              <a:t>Calculation</a:t>
            </a:r>
          </a:p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</a:rPr>
              <a:t>Results</a:t>
            </a:r>
          </a:p>
        </p:txBody>
      </p:sp>
      <p:sp>
        <p:nvSpPr>
          <p:cNvPr id="45076" name="Text Box 24"/>
          <p:cNvSpPr txBox="1">
            <a:spLocks noChangeArrowheads="1"/>
          </p:cNvSpPr>
          <p:nvPr/>
        </p:nvSpPr>
        <p:spPr bwMode="auto">
          <a:xfrm>
            <a:off x="6477000" y="2514600"/>
            <a:ext cx="2286000" cy="609600"/>
          </a:xfrm>
          <a:prstGeom prst="rect">
            <a:avLst/>
          </a:prstGeom>
          <a:solidFill>
            <a:srgbClr val="0099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endParaRPr lang="en-US" b="1">
              <a:solidFill>
                <a:srgbClr val="FF3300"/>
              </a:solidFill>
            </a:endParaRPr>
          </a:p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</a:rPr>
              <a:t>Annotation Role &amp; </a:t>
            </a:r>
          </a:p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</a:rPr>
              <a:t>References</a:t>
            </a:r>
          </a:p>
          <a:p>
            <a:pPr algn="ctr">
              <a:defRPr/>
            </a:pPr>
            <a:endParaRPr lang="en-US" b="1">
              <a:solidFill>
                <a:srgbClr val="FF3300"/>
              </a:solidFill>
            </a:endParaRPr>
          </a:p>
        </p:txBody>
      </p:sp>
      <p:sp>
        <p:nvSpPr>
          <p:cNvPr id="45077" name="Text Box 25"/>
          <p:cNvSpPr txBox="1">
            <a:spLocks noChangeArrowheads="1"/>
          </p:cNvSpPr>
          <p:nvPr/>
        </p:nvSpPr>
        <p:spPr bwMode="auto">
          <a:xfrm>
            <a:off x="4876800" y="2438400"/>
            <a:ext cx="1371600" cy="609600"/>
          </a:xfrm>
          <a:prstGeom prst="rect">
            <a:avLst/>
          </a:prstGeom>
          <a:solidFill>
            <a:srgbClr val="CC3399">
              <a:alpha val="25098"/>
            </a:srgbClr>
          </a:solidFill>
          <a:ln w="57150">
            <a:solidFill>
              <a:srgbClr val="33CC33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b="1">
                <a:solidFill>
                  <a:srgbClr val="FF3300"/>
                </a:solidFill>
              </a:rPr>
              <a:t>Annotation</a:t>
            </a:r>
          </a:p>
          <a:p>
            <a:pPr algn="ctr"/>
            <a:r>
              <a:rPr lang="en-US" b="1">
                <a:solidFill>
                  <a:srgbClr val="FF3300"/>
                </a:solidFill>
              </a:rPr>
              <a:t>Of</a:t>
            </a:r>
          </a:p>
          <a:p>
            <a:pPr algn="ctr"/>
            <a:r>
              <a:rPr lang="en-US" b="1">
                <a:solidFill>
                  <a:srgbClr val="FF3300"/>
                </a:solidFill>
              </a:rPr>
              <a:t>Annotation</a:t>
            </a:r>
          </a:p>
        </p:txBody>
      </p:sp>
      <p:sp>
        <p:nvSpPr>
          <p:cNvPr id="45078" name="Text Box 26"/>
          <p:cNvSpPr txBox="1">
            <a:spLocks noChangeArrowheads="1"/>
          </p:cNvSpPr>
          <p:nvPr/>
        </p:nvSpPr>
        <p:spPr bwMode="auto">
          <a:xfrm>
            <a:off x="4038600" y="3810000"/>
            <a:ext cx="1066800" cy="685800"/>
          </a:xfrm>
          <a:prstGeom prst="rect">
            <a:avLst/>
          </a:prstGeom>
          <a:solidFill>
            <a:srgbClr val="CC3399">
              <a:alpha val="25098"/>
            </a:srgbClr>
          </a:solidFill>
          <a:ln w="57150">
            <a:solidFill>
              <a:srgbClr val="33CC33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b="1">
                <a:solidFill>
                  <a:srgbClr val="FF3300"/>
                </a:solidFill>
              </a:rPr>
              <a:t>Image</a:t>
            </a:r>
          </a:p>
          <a:p>
            <a:pPr algn="ctr"/>
            <a:r>
              <a:rPr lang="en-US" b="1">
                <a:solidFill>
                  <a:srgbClr val="FF3300"/>
                </a:solidFill>
              </a:rPr>
              <a:t>Annotation</a:t>
            </a:r>
          </a:p>
        </p:txBody>
      </p: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76200" y="1066800"/>
            <a:ext cx="3429000" cy="3657600"/>
            <a:chOff x="96" y="624"/>
            <a:chExt cx="2160" cy="2352"/>
          </a:xfrm>
        </p:grpSpPr>
        <p:sp>
          <p:nvSpPr>
            <p:cNvPr id="45065" name="Text Box 13"/>
            <p:cNvSpPr txBox="1">
              <a:spLocks noChangeArrowheads="1"/>
            </p:cNvSpPr>
            <p:nvPr/>
          </p:nvSpPr>
          <p:spPr bwMode="auto">
            <a:xfrm>
              <a:off x="96" y="624"/>
              <a:ext cx="2160" cy="1440"/>
            </a:xfrm>
            <a:prstGeom prst="rect">
              <a:avLst/>
            </a:prstGeom>
            <a:solidFill>
              <a:srgbClr val="00FF00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>
                <a:defRPr/>
              </a:pPr>
              <a:endParaRPr lang="en-US" sz="2400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pPr algn="ctr">
                <a:defRPr/>
              </a:pPr>
              <a:r>
                <a:rPr lang="en-US" sz="24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Finding</a:t>
              </a:r>
            </a:p>
          </p:txBody>
        </p:sp>
        <p:sp>
          <p:nvSpPr>
            <p:cNvPr id="16403" name="Text Box 13"/>
            <p:cNvSpPr txBox="1">
              <a:spLocks noChangeArrowheads="1"/>
            </p:cNvSpPr>
            <p:nvPr/>
          </p:nvSpPr>
          <p:spPr bwMode="auto">
            <a:xfrm>
              <a:off x="96" y="2064"/>
              <a:ext cx="1392" cy="912"/>
            </a:xfrm>
            <a:prstGeom prst="rect">
              <a:avLst/>
            </a:prstGeom>
            <a:solidFill>
              <a:srgbClr val="00FF00">
                <a:alpha val="4901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/>
              <a:endParaRPr lang="en-US" b="1">
                <a:solidFill>
                  <a:srgbClr val="FF3300"/>
                </a:solidFill>
              </a:endParaRPr>
            </a:p>
            <a:p>
              <a:pPr algn="ctr"/>
              <a:endParaRPr lang="en-US" b="1">
                <a:solidFill>
                  <a:srgbClr val="FF3300"/>
                </a:solidFill>
              </a:endParaRPr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2214563" y="3429000"/>
            <a:ext cx="1733550" cy="2924175"/>
            <a:chOff x="2213919" y="3429000"/>
            <a:chExt cx="1733550" cy="2924802"/>
          </a:xfrm>
        </p:grpSpPr>
        <p:sp>
          <p:nvSpPr>
            <p:cNvPr id="45081" name="Text Box 30"/>
            <p:cNvSpPr txBox="1">
              <a:spLocks noChangeArrowheads="1"/>
            </p:cNvSpPr>
            <p:nvPr/>
          </p:nvSpPr>
          <p:spPr bwMode="auto">
            <a:xfrm>
              <a:off x="2213919" y="4249914"/>
              <a:ext cx="1733550" cy="2103888"/>
            </a:xfrm>
            <a:prstGeom prst="rect">
              <a:avLst/>
            </a:prstGeom>
            <a:solidFill>
              <a:srgbClr val="006600">
                <a:alpha val="39999"/>
              </a:srgbClr>
            </a:solidFill>
            <a:ln w="38100">
              <a:noFill/>
              <a:miter lim="800000"/>
              <a:headEnd/>
              <a:tailEnd/>
            </a:ln>
          </p:spPr>
          <p:txBody>
            <a:bodyPr anchor="ctr" anchorCtr="1">
              <a:spAutoFit/>
            </a:bodyPr>
            <a:lstStyle/>
            <a:p>
              <a:pPr algn="ctr">
                <a:defRPr/>
              </a:pPr>
              <a:endParaRPr lang="en-US" b="1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pPr algn="ctr">
                <a:defRPr/>
              </a:pPr>
              <a:endParaRPr lang="en-US" b="1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pPr algn="ctr">
                <a:defRPr/>
              </a:pPr>
              <a:r>
                <a:rPr 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DICOM</a:t>
              </a:r>
            </a:p>
            <a:p>
              <a:pPr algn="ctr">
                <a:defRPr/>
              </a:pPr>
              <a:endParaRPr lang="en-US" b="1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pPr algn="ctr">
                <a:defRPr/>
              </a:pPr>
              <a:endParaRPr lang="en-US" b="1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45092" name="Text Box 30"/>
            <p:cNvSpPr txBox="1">
              <a:spLocks noChangeArrowheads="1"/>
            </p:cNvSpPr>
            <p:nvPr/>
          </p:nvSpPr>
          <p:spPr bwMode="auto">
            <a:xfrm>
              <a:off x="2513956" y="3429000"/>
              <a:ext cx="838200" cy="822501"/>
            </a:xfrm>
            <a:prstGeom prst="rect">
              <a:avLst/>
            </a:prstGeom>
            <a:solidFill>
              <a:srgbClr val="006600">
                <a:alpha val="39999"/>
              </a:srgbClr>
            </a:solidFill>
            <a:ln w="38100">
              <a:noFill/>
              <a:miter lim="800000"/>
              <a:headEnd/>
              <a:tailEnd/>
            </a:ln>
          </p:spPr>
          <p:txBody>
            <a:bodyPr anchor="ctr" anchorCtr="1">
              <a:spAutoFit/>
            </a:bodyPr>
            <a:lstStyle/>
            <a:p>
              <a:pPr algn="ctr">
                <a:defRPr/>
              </a:pPr>
              <a:endParaRPr lang="en-US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pPr algn="ctr">
                <a:defRPr/>
              </a:pPr>
              <a:endParaRPr lang="en-US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pPr algn="ctr">
                <a:defRPr/>
              </a:pPr>
              <a:endParaRPr lang="en-US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  <a:p>
              <a:pPr algn="ctr">
                <a:defRPr/>
              </a:pPr>
              <a:endParaRPr lang="en-US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214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5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50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6" grpId="0" animBg="1"/>
      <p:bldP spid="45067" grpId="0" animBg="1"/>
      <p:bldP spid="45068" grpId="0" animBg="1"/>
      <p:bldP spid="45069" grpId="0" animBg="1"/>
      <p:bldP spid="45071" grpId="0" animBg="1"/>
      <p:bldP spid="45072" grpId="0" animBg="1"/>
      <p:bldP spid="45074" grpId="0" animBg="1"/>
      <p:bldP spid="45076" grpId="0" animBg="1"/>
      <p:bldP spid="45077" grpId="0" animBg="1"/>
      <p:bldP spid="4507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AIM 3.0 Model</a:t>
            </a:r>
          </a:p>
        </p:txBody>
      </p:sp>
      <p:pic>
        <p:nvPicPr>
          <p:cNvPr id="17411" name="Picture 7" descr="AIM_v3_rv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944563"/>
            <a:ext cx="8839200" cy="591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4" name="Text Box 8"/>
          <p:cNvSpPr txBox="1">
            <a:spLocks noChangeArrowheads="1"/>
          </p:cNvSpPr>
          <p:nvPr/>
        </p:nvSpPr>
        <p:spPr bwMode="auto">
          <a:xfrm>
            <a:off x="1981200" y="1293813"/>
            <a:ext cx="1444625" cy="527050"/>
          </a:xfrm>
          <a:prstGeom prst="rect">
            <a:avLst/>
          </a:prstGeom>
          <a:solidFill>
            <a:srgbClr val="FFFFCC"/>
          </a:solidFill>
          <a:ln w="38100">
            <a:solidFill>
              <a:srgbClr val="FF33CC"/>
            </a:solidFill>
            <a:prstDash val="sysDot"/>
            <a:miter lim="800000"/>
            <a:headEnd/>
            <a:tailEnd/>
          </a:ln>
        </p:spPr>
        <p:txBody>
          <a:bodyPr anchor="ctr" anchorCtr="1">
            <a:spAutoFit/>
          </a:bodyPr>
          <a:lstStyle/>
          <a:p>
            <a:pPr algn="ctr"/>
            <a:r>
              <a:rPr lang="en-US" b="1">
                <a:solidFill>
                  <a:srgbClr val="FF3300"/>
                </a:solidFill>
              </a:rPr>
              <a:t>Anatomic Entity</a:t>
            </a:r>
          </a:p>
        </p:txBody>
      </p:sp>
      <p:sp>
        <p:nvSpPr>
          <p:cNvPr id="10245" name="Text Box 9"/>
          <p:cNvSpPr txBox="1">
            <a:spLocks noChangeArrowheads="1"/>
          </p:cNvSpPr>
          <p:nvPr/>
        </p:nvSpPr>
        <p:spPr bwMode="auto">
          <a:xfrm>
            <a:off x="381000" y="1177925"/>
            <a:ext cx="1444625" cy="725488"/>
          </a:xfrm>
          <a:prstGeom prst="rect">
            <a:avLst/>
          </a:prstGeom>
          <a:solidFill>
            <a:srgbClr val="FFFFCC"/>
          </a:solidFill>
          <a:ln w="38100">
            <a:solidFill>
              <a:srgbClr val="FF33CC"/>
            </a:solidFill>
            <a:prstDash val="sysDot"/>
            <a:miter lim="800000"/>
            <a:headEnd/>
            <a:tailEnd/>
          </a:ln>
        </p:spPr>
        <p:txBody>
          <a:bodyPr anchor="b" anchorCtr="1">
            <a:spAutoFit/>
          </a:bodyPr>
          <a:lstStyle/>
          <a:p>
            <a:pPr algn="ctr"/>
            <a:r>
              <a:rPr lang="en-US" b="1">
                <a:solidFill>
                  <a:srgbClr val="FF3300"/>
                </a:solidFill>
              </a:rPr>
              <a:t>Anatomic Entity</a:t>
            </a:r>
          </a:p>
          <a:p>
            <a:r>
              <a:rPr lang="en-US" b="1">
                <a:solidFill>
                  <a:srgbClr val="FF3300"/>
                </a:solidFill>
              </a:rPr>
              <a:t>Characteristic</a:t>
            </a:r>
          </a:p>
        </p:txBody>
      </p:sp>
      <p:sp>
        <p:nvSpPr>
          <p:cNvPr id="10246" name="Text Box 10"/>
          <p:cNvSpPr txBox="1">
            <a:spLocks noChangeArrowheads="1"/>
          </p:cNvSpPr>
          <p:nvPr/>
        </p:nvSpPr>
        <p:spPr bwMode="auto">
          <a:xfrm>
            <a:off x="2209800" y="2473325"/>
            <a:ext cx="1444625" cy="527050"/>
          </a:xfrm>
          <a:prstGeom prst="rect">
            <a:avLst/>
          </a:prstGeom>
          <a:solidFill>
            <a:srgbClr val="FFFFCC"/>
          </a:solidFill>
          <a:ln w="38100">
            <a:solidFill>
              <a:srgbClr val="FF33CC"/>
            </a:solidFill>
            <a:prstDash val="sysDot"/>
            <a:miter lim="800000"/>
            <a:headEnd/>
            <a:tailEnd/>
          </a:ln>
        </p:spPr>
        <p:txBody>
          <a:bodyPr anchor="ctr" anchorCtr="1">
            <a:spAutoFit/>
          </a:bodyPr>
          <a:lstStyle/>
          <a:p>
            <a:pPr algn="ctr"/>
            <a:r>
              <a:rPr lang="en-US" b="1">
                <a:solidFill>
                  <a:srgbClr val="FF3300"/>
                </a:solidFill>
              </a:rPr>
              <a:t>Image Observation</a:t>
            </a:r>
          </a:p>
        </p:txBody>
      </p:sp>
      <p:sp>
        <p:nvSpPr>
          <p:cNvPr id="10247" name="Text Box 11"/>
          <p:cNvSpPr txBox="1">
            <a:spLocks noChangeArrowheads="1"/>
          </p:cNvSpPr>
          <p:nvPr/>
        </p:nvSpPr>
        <p:spPr bwMode="auto">
          <a:xfrm>
            <a:off x="457200" y="2114550"/>
            <a:ext cx="1444625" cy="725488"/>
          </a:xfrm>
          <a:prstGeom prst="rect">
            <a:avLst/>
          </a:prstGeom>
          <a:solidFill>
            <a:srgbClr val="FFFFCC"/>
          </a:solidFill>
          <a:ln w="38100">
            <a:solidFill>
              <a:srgbClr val="FF33CC"/>
            </a:solidFill>
            <a:prstDash val="sysDot"/>
            <a:miter lim="800000"/>
            <a:headEnd/>
            <a:tailEnd/>
          </a:ln>
        </p:spPr>
        <p:txBody>
          <a:bodyPr anchor="ctr" anchorCtr="1">
            <a:spAutoFit/>
          </a:bodyPr>
          <a:lstStyle/>
          <a:p>
            <a:pPr algn="ctr"/>
            <a:r>
              <a:rPr lang="en-US" b="1">
                <a:solidFill>
                  <a:srgbClr val="FF3300"/>
                </a:solidFill>
              </a:rPr>
              <a:t>Image Observation</a:t>
            </a:r>
          </a:p>
          <a:p>
            <a:pPr algn="ctr"/>
            <a:r>
              <a:rPr lang="en-US" b="1">
                <a:solidFill>
                  <a:srgbClr val="FF3300"/>
                </a:solidFill>
              </a:rPr>
              <a:t>Characteristic</a:t>
            </a:r>
          </a:p>
        </p:txBody>
      </p:sp>
      <p:sp>
        <p:nvSpPr>
          <p:cNvPr id="10248" name="Text Box 12"/>
          <p:cNvSpPr txBox="1">
            <a:spLocks noChangeArrowheads="1"/>
          </p:cNvSpPr>
          <p:nvPr/>
        </p:nvSpPr>
        <p:spPr bwMode="auto">
          <a:xfrm>
            <a:off x="2362200" y="3562350"/>
            <a:ext cx="1447800" cy="527050"/>
          </a:xfrm>
          <a:prstGeom prst="rect">
            <a:avLst/>
          </a:prstGeom>
          <a:solidFill>
            <a:srgbClr val="FFFFCC"/>
          </a:solidFill>
          <a:ln w="38100">
            <a:solidFill>
              <a:srgbClr val="FF33CC"/>
            </a:solidFill>
            <a:prstDash val="sysDot"/>
            <a:miter lim="800000"/>
            <a:headEnd/>
            <a:tailEnd/>
          </a:ln>
        </p:spPr>
        <p:txBody>
          <a:bodyPr anchor="ctr" anchorCtr="1">
            <a:spAutoFit/>
          </a:bodyPr>
          <a:lstStyle/>
          <a:p>
            <a:pPr algn="ctr"/>
            <a:r>
              <a:rPr lang="en-US" b="1">
                <a:solidFill>
                  <a:srgbClr val="FF3300"/>
                </a:solidFill>
              </a:rPr>
              <a:t>DICOM Segmentations</a:t>
            </a:r>
          </a:p>
        </p:txBody>
      </p:sp>
      <p:sp>
        <p:nvSpPr>
          <p:cNvPr id="10249" name="Text Box 13"/>
          <p:cNvSpPr txBox="1">
            <a:spLocks noChangeArrowheads="1"/>
          </p:cNvSpPr>
          <p:nvPr/>
        </p:nvSpPr>
        <p:spPr bwMode="auto">
          <a:xfrm>
            <a:off x="1143000" y="4943475"/>
            <a:ext cx="1368425" cy="687388"/>
          </a:xfrm>
          <a:prstGeom prst="rect">
            <a:avLst/>
          </a:prstGeom>
          <a:solidFill>
            <a:srgbClr val="CC99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anchor="ctr" anchorCtr="1">
            <a:spAutoFit/>
          </a:bodyPr>
          <a:lstStyle/>
          <a:p>
            <a:pPr algn="ctr"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DICOM Image</a:t>
            </a: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References</a:t>
            </a:r>
          </a:p>
        </p:txBody>
      </p:sp>
      <p:sp>
        <p:nvSpPr>
          <p:cNvPr id="10250" name="Text Box 14"/>
          <p:cNvSpPr txBox="1">
            <a:spLocks noChangeArrowheads="1"/>
          </p:cNvSpPr>
          <p:nvPr/>
        </p:nvSpPr>
        <p:spPr bwMode="auto">
          <a:xfrm>
            <a:off x="3505200" y="1600200"/>
            <a:ext cx="914400" cy="146050"/>
          </a:xfrm>
          <a:prstGeom prst="rect">
            <a:avLst/>
          </a:prstGeom>
          <a:solidFill>
            <a:srgbClr val="CC99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 anchorCtr="1"/>
          <a:lstStyle/>
          <a:p>
            <a:pPr algn="ctr"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Equipment</a:t>
            </a:r>
          </a:p>
        </p:txBody>
      </p:sp>
      <p:sp>
        <p:nvSpPr>
          <p:cNvPr id="10251" name="Text Box 15"/>
          <p:cNvSpPr txBox="1">
            <a:spLocks noChangeArrowheads="1"/>
          </p:cNvSpPr>
          <p:nvPr/>
        </p:nvSpPr>
        <p:spPr bwMode="auto">
          <a:xfrm>
            <a:off x="4572000" y="1447800"/>
            <a:ext cx="609600" cy="146050"/>
          </a:xfrm>
          <a:prstGeom prst="rect">
            <a:avLst/>
          </a:prstGeom>
          <a:solidFill>
            <a:srgbClr val="CC99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 anchorCtr="1"/>
          <a:lstStyle/>
          <a:p>
            <a:pPr algn="ctr"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User</a:t>
            </a:r>
          </a:p>
        </p:txBody>
      </p:sp>
      <p:sp>
        <p:nvSpPr>
          <p:cNvPr id="10252" name="Text Box 16"/>
          <p:cNvSpPr txBox="1">
            <a:spLocks noChangeArrowheads="1"/>
          </p:cNvSpPr>
          <p:nvPr/>
        </p:nvSpPr>
        <p:spPr bwMode="auto">
          <a:xfrm>
            <a:off x="3965575" y="6019800"/>
            <a:ext cx="987425" cy="381000"/>
          </a:xfrm>
          <a:prstGeom prst="rect">
            <a:avLst/>
          </a:prstGeom>
          <a:solidFill>
            <a:srgbClr val="CC99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“web” Image</a:t>
            </a: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References</a:t>
            </a:r>
          </a:p>
        </p:txBody>
      </p:sp>
      <p:sp>
        <p:nvSpPr>
          <p:cNvPr id="10253" name="Text Box 17"/>
          <p:cNvSpPr txBox="1">
            <a:spLocks noChangeArrowheads="1"/>
          </p:cNvSpPr>
          <p:nvPr/>
        </p:nvSpPr>
        <p:spPr bwMode="auto">
          <a:xfrm>
            <a:off x="4230688" y="5410200"/>
            <a:ext cx="682625" cy="228600"/>
          </a:xfrm>
          <a:prstGeom prst="rect">
            <a:avLst/>
          </a:prstGeom>
          <a:solidFill>
            <a:srgbClr val="CC99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Person</a:t>
            </a:r>
          </a:p>
        </p:txBody>
      </p:sp>
      <p:sp>
        <p:nvSpPr>
          <p:cNvPr id="10254" name="Text Box 18"/>
          <p:cNvSpPr txBox="1">
            <a:spLocks noChangeArrowheads="1"/>
          </p:cNvSpPr>
          <p:nvPr/>
        </p:nvSpPr>
        <p:spPr bwMode="auto">
          <a:xfrm>
            <a:off x="5029200" y="4876800"/>
            <a:ext cx="533400" cy="304800"/>
          </a:xfrm>
          <a:prstGeom prst="rect">
            <a:avLst/>
          </a:prstGeom>
          <a:solidFill>
            <a:srgbClr val="CC99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Text</a:t>
            </a:r>
          </a:p>
        </p:txBody>
      </p:sp>
      <p:sp>
        <p:nvSpPr>
          <p:cNvPr id="10255" name="Text Box 19"/>
          <p:cNvSpPr txBox="1">
            <a:spLocks noChangeArrowheads="1"/>
          </p:cNvSpPr>
          <p:nvPr/>
        </p:nvSpPr>
        <p:spPr bwMode="auto">
          <a:xfrm>
            <a:off x="6934200" y="4953000"/>
            <a:ext cx="1600200" cy="533400"/>
          </a:xfrm>
          <a:prstGeom prst="rect">
            <a:avLst/>
          </a:prstGeom>
          <a:solidFill>
            <a:srgbClr val="CC99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Geometric Shapes</a:t>
            </a: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(2D and 3D)</a:t>
            </a:r>
          </a:p>
        </p:txBody>
      </p:sp>
      <p:sp>
        <p:nvSpPr>
          <p:cNvPr id="10256" name="Text Box 20"/>
          <p:cNvSpPr txBox="1">
            <a:spLocks noChangeArrowheads="1"/>
          </p:cNvSpPr>
          <p:nvPr/>
        </p:nvSpPr>
        <p:spPr bwMode="auto">
          <a:xfrm>
            <a:off x="6477000" y="3657600"/>
            <a:ext cx="914400" cy="304800"/>
          </a:xfrm>
          <a:prstGeom prst="rect">
            <a:avLst/>
          </a:prstGeom>
          <a:solidFill>
            <a:srgbClr val="FFFFCC"/>
          </a:solidFill>
          <a:ln w="38100">
            <a:solidFill>
              <a:srgbClr val="FF33CC"/>
            </a:solidFill>
            <a:prstDash val="sysDot"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endParaRPr lang="en-US" b="1">
              <a:solidFill>
                <a:srgbClr val="FF3300"/>
              </a:solidFill>
            </a:endParaRPr>
          </a:p>
          <a:p>
            <a:pPr algn="ctr"/>
            <a:r>
              <a:rPr lang="en-US" b="1">
                <a:solidFill>
                  <a:srgbClr val="FF3300"/>
                </a:solidFill>
              </a:rPr>
              <a:t>Inferences</a:t>
            </a:r>
          </a:p>
        </p:txBody>
      </p:sp>
      <p:sp>
        <p:nvSpPr>
          <p:cNvPr id="10257" name="Text Box 21"/>
          <p:cNvSpPr txBox="1">
            <a:spLocks noChangeArrowheads="1"/>
          </p:cNvSpPr>
          <p:nvPr/>
        </p:nvSpPr>
        <p:spPr bwMode="auto">
          <a:xfrm>
            <a:off x="5410200" y="1295400"/>
            <a:ext cx="990600" cy="304800"/>
          </a:xfrm>
          <a:prstGeom prst="rect">
            <a:avLst/>
          </a:prstGeom>
          <a:solidFill>
            <a:srgbClr val="FFFFCC"/>
          </a:solidFill>
          <a:ln w="38100">
            <a:solidFill>
              <a:srgbClr val="FF33CC"/>
            </a:solidFill>
            <a:prstDash val="sysDot"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endParaRPr lang="en-US" b="1">
              <a:solidFill>
                <a:srgbClr val="FF3300"/>
              </a:solidFill>
            </a:endParaRPr>
          </a:p>
          <a:p>
            <a:pPr algn="ctr"/>
            <a:r>
              <a:rPr lang="en-US" b="1">
                <a:solidFill>
                  <a:srgbClr val="FF3300"/>
                </a:solidFill>
              </a:rPr>
              <a:t>Calculations</a:t>
            </a:r>
          </a:p>
        </p:txBody>
      </p:sp>
      <p:sp>
        <p:nvSpPr>
          <p:cNvPr id="10258" name="Text Box 22"/>
          <p:cNvSpPr txBox="1">
            <a:spLocks noChangeArrowheads="1"/>
          </p:cNvSpPr>
          <p:nvPr/>
        </p:nvSpPr>
        <p:spPr bwMode="auto">
          <a:xfrm>
            <a:off x="7239000" y="1371600"/>
            <a:ext cx="914400" cy="457200"/>
          </a:xfrm>
          <a:prstGeom prst="rect">
            <a:avLst/>
          </a:prstGeom>
          <a:solidFill>
            <a:srgbClr val="CC99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Calculation</a:t>
            </a: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Results</a:t>
            </a:r>
          </a:p>
        </p:txBody>
      </p:sp>
      <p:sp>
        <p:nvSpPr>
          <p:cNvPr id="10259" name="Text Box 23"/>
          <p:cNvSpPr txBox="1">
            <a:spLocks noChangeArrowheads="1"/>
          </p:cNvSpPr>
          <p:nvPr/>
        </p:nvSpPr>
        <p:spPr bwMode="auto">
          <a:xfrm>
            <a:off x="6324600" y="2667000"/>
            <a:ext cx="1066800" cy="381000"/>
          </a:xfrm>
          <a:prstGeom prst="rect">
            <a:avLst/>
          </a:prstGeom>
          <a:solidFill>
            <a:srgbClr val="CC99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Annotation</a:t>
            </a: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References</a:t>
            </a:r>
          </a:p>
        </p:txBody>
      </p:sp>
      <p:sp>
        <p:nvSpPr>
          <p:cNvPr id="10260" name="Text Box 24"/>
          <p:cNvSpPr txBox="1">
            <a:spLocks noChangeArrowheads="1"/>
          </p:cNvSpPr>
          <p:nvPr/>
        </p:nvSpPr>
        <p:spPr bwMode="auto">
          <a:xfrm>
            <a:off x="7772400" y="2667000"/>
            <a:ext cx="1219200" cy="647700"/>
          </a:xfrm>
          <a:prstGeom prst="rect">
            <a:avLst/>
          </a:prstGeom>
          <a:solidFill>
            <a:srgbClr val="CC99FF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Annotation</a:t>
            </a: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Role</a:t>
            </a:r>
          </a:p>
          <a:p>
            <a:pPr algn="ctr"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(for analysis)</a:t>
            </a:r>
          </a:p>
        </p:txBody>
      </p:sp>
      <p:sp>
        <p:nvSpPr>
          <p:cNvPr id="10261" name="Text Box 25"/>
          <p:cNvSpPr txBox="1">
            <a:spLocks noChangeArrowheads="1"/>
          </p:cNvSpPr>
          <p:nvPr/>
        </p:nvSpPr>
        <p:spPr bwMode="auto">
          <a:xfrm>
            <a:off x="5181600" y="2286000"/>
            <a:ext cx="1066800" cy="762000"/>
          </a:xfrm>
          <a:prstGeom prst="rect">
            <a:avLst/>
          </a:prstGeom>
          <a:solidFill>
            <a:srgbClr val="FFFFCC"/>
          </a:solidFill>
          <a:ln w="57150">
            <a:solidFill>
              <a:srgbClr val="33CC33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b="1">
                <a:solidFill>
                  <a:srgbClr val="FF3300"/>
                </a:solidFill>
              </a:rPr>
              <a:t>Annotation</a:t>
            </a:r>
          </a:p>
          <a:p>
            <a:pPr algn="ctr"/>
            <a:r>
              <a:rPr lang="en-US" b="1">
                <a:solidFill>
                  <a:srgbClr val="FF3300"/>
                </a:solidFill>
              </a:rPr>
              <a:t>Of</a:t>
            </a:r>
          </a:p>
          <a:p>
            <a:pPr algn="ctr"/>
            <a:r>
              <a:rPr lang="en-US" b="1">
                <a:solidFill>
                  <a:srgbClr val="FF3300"/>
                </a:solidFill>
              </a:rPr>
              <a:t>Annotation</a:t>
            </a:r>
          </a:p>
        </p:txBody>
      </p:sp>
      <p:sp>
        <p:nvSpPr>
          <p:cNvPr id="10262" name="Text Box 26"/>
          <p:cNvSpPr txBox="1">
            <a:spLocks noChangeArrowheads="1"/>
          </p:cNvSpPr>
          <p:nvPr/>
        </p:nvSpPr>
        <p:spPr bwMode="auto">
          <a:xfrm>
            <a:off x="4038600" y="3886200"/>
            <a:ext cx="1066800" cy="609600"/>
          </a:xfrm>
          <a:prstGeom prst="rect">
            <a:avLst/>
          </a:prstGeom>
          <a:solidFill>
            <a:srgbClr val="FFFFCC"/>
          </a:solidFill>
          <a:ln w="57150">
            <a:solidFill>
              <a:srgbClr val="33CC33"/>
            </a:solidFill>
            <a:prstDash val="sysDot"/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algn="ctr"/>
            <a:r>
              <a:rPr lang="en-US" b="1">
                <a:solidFill>
                  <a:srgbClr val="FF3300"/>
                </a:solidFill>
              </a:rPr>
              <a:t>Image</a:t>
            </a:r>
          </a:p>
          <a:p>
            <a:pPr algn="ctr"/>
            <a:r>
              <a:rPr lang="en-US" b="1">
                <a:solidFill>
                  <a:srgbClr val="FF3300"/>
                </a:solidFill>
              </a:rPr>
              <a:t>Annotation</a:t>
            </a:r>
          </a:p>
        </p:txBody>
      </p:sp>
      <p:sp>
        <p:nvSpPr>
          <p:cNvPr id="10263" name="Text Box 28"/>
          <p:cNvSpPr txBox="1">
            <a:spLocks noChangeArrowheads="1"/>
          </p:cNvSpPr>
          <p:nvPr/>
        </p:nvSpPr>
        <p:spPr bwMode="auto">
          <a:xfrm>
            <a:off x="457200" y="3311525"/>
            <a:ext cx="1444625" cy="725488"/>
          </a:xfrm>
          <a:prstGeom prst="rect">
            <a:avLst/>
          </a:prstGeom>
          <a:solidFill>
            <a:srgbClr val="FFFFCC"/>
          </a:solidFill>
          <a:ln w="38100">
            <a:solidFill>
              <a:srgbClr val="FF33CC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/>
          <a:p>
            <a:endParaRPr lang="en-US" b="1">
              <a:solidFill>
                <a:srgbClr val="FF3300"/>
              </a:solidFill>
            </a:endParaRPr>
          </a:p>
          <a:p>
            <a:r>
              <a:rPr lang="en-US" b="1">
                <a:solidFill>
                  <a:srgbClr val="FF3300"/>
                </a:solidFill>
              </a:rPr>
              <a:t>Quantification</a:t>
            </a:r>
          </a:p>
          <a:p>
            <a:r>
              <a:rPr lang="en-US" b="1">
                <a:solidFill>
                  <a:srgbClr val="FF3300"/>
                </a:solidFill>
              </a:rPr>
              <a:t>Characteristic</a:t>
            </a:r>
          </a:p>
        </p:txBody>
      </p:sp>
      <p:sp>
        <p:nvSpPr>
          <p:cNvPr id="10264" name="Line 29"/>
          <p:cNvSpPr>
            <a:spLocks noChangeShapeType="1"/>
          </p:cNvSpPr>
          <p:nvPr/>
        </p:nvSpPr>
        <p:spPr bwMode="auto">
          <a:xfrm>
            <a:off x="4038600" y="5257800"/>
            <a:ext cx="76200" cy="7620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6" name="Line 31"/>
          <p:cNvSpPr>
            <a:spLocks noChangeShapeType="1"/>
          </p:cNvSpPr>
          <p:nvPr/>
        </p:nvSpPr>
        <p:spPr bwMode="auto">
          <a:xfrm flipH="1">
            <a:off x="3200400" y="5638800"/>
            <a:ext cx="152400" cy="6096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8" name="Text Box 10"/>
          <p:cNvSpPr txBox="1">
            <a:spLocks noChangeArrowheads="1"/>
          </p:cNvSpPr>
          <p:nvPr/>
        </p:nvSpPr>
        <p:spPr bwMode="auto">
          <a:xfrm>
            <a:off x="5257800" y="3276600"/>
            <a:ext cx="838200" cy="527050"/>
          </a:xfrm>
          <a:prstGeom prst="rect">
            <a:avLst/>
          </a:prstGeom>
          <a:solidFill>
            <a:srgbClr val="FFFFCC"/>
          </a:solidFill>
          <a:ln w="38100">
            <a:solidFill>
              <a:srgbClr val="FF33CC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/>
          <a:p>
            <a:pPr algn="ctr"/>
            <a:r>
              <a:rPr lang="en-US" b="1">
                <a:solidFill>
                  <a:srgbClr val="FF3300"/>
                </a:solidFill>
              </a:rPr>
              <a:t>AIM </a:t>
            </a:r>
          </a:p>
          <a:p>
            <a:pPr algn="ctr"/>
            <a:r>
              <a:rPr lang="en-US" b="1">
                <a:solidFill>
                  <a:srgbClr val="FF3300"/>
                </a:solidFill>
              </a:rPr>
              <a:t>Status</a:t>
            </a:r>
          </a:p>
        </p:txBody>
      </p:sp>
      <p:sp>
        <p:nvSpPr>
          <p:cNvPr id="10265" name="Text Box 30"/>
          <p:cNvSpPr txBox="1">
            <a:spLocks noChangeArrowheads="1"/>
          </p:cNvSpPr>
          <p:nvPr/>
        </p:nvSpPr>
        <p:spPr bwMode="auto">
          <a:xfrm>
            <a:off x="1676400" y="6183313"/>
            <a:ext cx="2133600" cy="555625"/>
          </a:xfrm>
          <a:prstGeom prst="rect">
            <a:avLst/>
          </a:prstGeom>
          <a:solidFill>
            <a:srgbClr val="FFFFCC"/>
          </a:solidFill>
          <a:ln w="38100">
            <a:solidFill>
              <a:srgbClr val="FF33CC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/>
          <a:p>
            <a:pPr algn="ctr"/>
            <a:r>
              <a:rPr lang="en-US" sz="1400" b="1">
                <a:solidFill>
                  <a:srgbClr val="FF3300"/>
                </a:solidFill>
              </a:rPr>
              <a:t>DICOM Presentation State </a:t>
            </a:r>
          </a:p>
        </p:txBody>
      </p:sp>
    </p:spTree>
    <p:custDataLst>
      <p:tags r:id="rId1"/>
    </p:custDataLst>
  </p:cSld>
  <p:clrMapOvr>
    <a:masterClrMapping/>
  </p:clrMapOvr>
  <p:transition advTm="134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nimBg="1"/>
      <p:bldP spid="10245" grpId="0" animBg="1"/>
      <p:bldP spid="10246" grpId="0" animBg="1"/>
      <p:bldP spid="10247" grpId="0" animBg="1"/>
      <p:bldP spid="10248" grpId="0" animBg="1"/>
      <p:bldP spid="10249" grpId="0" animBg="1"/>
      <p:bldP spid="10250" grpId="0" animBg="1"/>
      <p:bldP spid="10251" grpId="0" animBg="1"/>
      <p:bldP spid="10252" grpId="0" animBg="1"/>
      <p:bldP spid="10253" grpId="0" animBg="1"/>
      <p:bldP spid="10254" grpId="0" animBg="1"/>
      <p:bldP spid="10255" grpId="0" animBg="1"/>
      <p:bldP spid="10256" grpId="0" animBg="1"/>
      <p:bldP spid="10257" grpId="0" animBg="1"/>
      <p:bldP spid="10258" grpId="0" animBg="1"/>
      <p:bldP spid="10259" grpId="0" animBg="1"/>
      <p:bldP spid="10260" grpId="0" animBg="1"/>
      <p:bldP spid="10261" grpId="0" animBg="1"/>
      <p:bldP spid="10262" grpId="0" animBg="1"/>
      <p:bldP spid="10263" grpId="0" animBg="1"/>
      <p:bldP spid="10264" grpId="0" animBg="1"/>
      <p:bldP spid="10266" grpId="0" animBg="1"/>
      <p:bldP spid="10268" grpId="0" animBg="1"/>
      <p:bldP spid="1026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Characteristic Quantification</a:t>
            </a:r>
          </a:p>
        </p:txBody>
      </p:sp>
      <p:pic>
        <p:nvPicPr>
          <p:cNvPr id="1843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219200"/>
            <a:ext cx="7239000" cy="555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12219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014413" y="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Samples Characteristic Quantification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914400" y="1752600"/>
            <a:ext cx="3022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000099"/>
                </a:solidFill>
              </a:rPr>
              <a:t>Non-quantifiable</a:t>
            </a: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267200" y="20574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31" name="Text Box 8"/>
          <p:cNvSpPr txBox="1">
            <a:spLocks noChangeArrowheads="1"/>
          </p:cNvSpPr>
          <p:nvPr/>
        </p:nvSpPr>
        <p:spPr bwMode="auto">
          <a:xfrm>
            <a:off x="914400" y="3133725"/>
            <a:ext cx="3276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000099"/>
                </a:solidFill>
              </a:rPr>
              <a:t>Numerical</a:t>
            </a:r>
          </a:p>
          <a:p>
            <a:r>
              <a:rPr lang="en-US" sz="2800" b="1">
                <a:solidFill>
                  <a:srgbClr val="000099"/>
                </a:solidFill>
              </a:rPr>
              <a:t>Interval</a:t>
            </a:r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4229100" y="3449638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1033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1447800"/>
            <a:ext cx="331470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2733675"/>
            <a:ext cx="3295650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5" name="Text Box 12"/>
          <p:cNvSpPr txBox="1">
            <a:spLocks noChangeArrowheads="1"/>
          </p:cNvSpPr>
          <p:nvPr/>
        </p:nvSpPr>
        <p:spPr bwMode="auto">
          <a:xfrm>
            <a:off x="914400" y="4495800"/>
            <a:ext cx="27463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000099"/>
                </a:solidFill>
              </a:rPr>
              <a:t>Scale</a:t>
            </a:r>
          </a:p>
        </p:txBody>
      </p:sp>
      <p:graphicFrame>
        <p:nvGraphicFramePr>
          <p:cNvPr id="1026" name="Object 15"/>
          <p:cNvGraphicFramePr>
            <a:graphicFrameLocks noChangeAspect="1"/>
          </p:cNvGraphicFramePr>
          <p:nvPr/>
        </p:nvGraphicFramePr>
        <p:xfrm>
          <a:off x="5029200" y="4495800"/>
          <a:ext cx="3581400" cy="587375"/>
        </p:xfrm>
        <a:graphic>
          <a:graphicData uri="http://schemas.openxmlformats.org/presentationml/2006/ole">
            <p:oleObj spid="_x0000_s1026" name="Image" r:id="rId5" imgW="4419048" imgH="723554" progId="Photoshop.Image.7">
              <p:embed/>
            </p:oleObj>
          </a:graphicData>
        </a:graphic>
      </p:graphicFrame>
      <p:sp>
        <p:nvSpPr>
          <p:cNvPr id="1036" name="Line 16"/>
          <p:cNvSpPr>
            <a:spLocks noChangeShapeType="1"/>
          </p:cNvSpPr>
          <p:nvPr/>
        </p:nvSpPr>
        <p:spPr bwMode="auto">
          <a:xfrm>
            <a:off x="4229100" y="48006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37" name="Text Box 17"/>
          <p:cNvSpPr txBox="1">
            <a:spLocks noChangeArrowheads="1"/>
          </p:cNvSpPr>
          <p:nvPr/>
        </p:nvSpPr>
        <p:spPr bwMode="auto">
          <a:xfrm>
            <a:off x="914400" y="5486400"/>
            <a:ext cx="27463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000099"/>
                </a:solidFill>
              </a:rPr>
              <a:t>Quantile</a:t>
            </a:r>
          </a:p>
        </p:txBody>
      </p:sp>
      <p:sp>
        <p:nvSpPr>
          <p:cNvPr id="1038" name="Line 18"/>
          <p:cNvSpPr>
            <a:spLocks noChangeShapeType="1"/>
          </p:cNvSpPr>
          <p:nvPr/>
        </p:nvSpPr>
        <p:spPr bwMode="auto">
          <a:xfrm>
            <a:off x="4229100" y="57912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5029200" y="5257800"/>
          <a:ext cx="1320800" cy="927100"/>
        </p:xfrm>
        <a:graphic>
          <a:graphicData uri="http://schemas.openxmlformats.org/presentationml/2006/ole">
            <p:oleObj spid="_x0000_s1027" name="Image" r:id="rId6" imgW="1320635" imgH="926657" progId="Photoshop.Image.7">
              <p:embed/>
            </p:oleObj>
          </a:graphicData>
        </a:graphic>
      </p:graphicFrame>
    </p:spTree>
  </p:cSld>
  <p:clrMapOvr>
    <a:masterClrMapping/>
  </p:clrMapOvr>
  <p:transition advTm="7516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Pixel Semantic Meaning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609600" y="1600200"/>
            <a:ext cx="84582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2800" b="1">
                <a:latin typeface="Calibri" pitchFamily="34" charset="0"/>
              </a:rPr>
              <a:t>Capture many types of image semantic content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 b="1">
                <a:latin typeface="Calibri" pitchFamily="34" charset="0"/>
              </a:rPr>
              <a:t>AnatomicEntity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sz="2400">
                <a:latin typeface="Calibri" pitchFamily="34" charset="0"/>
              </a:rPr>
              <a:t>RID1327, Upper lobe of left lung, RadLex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 b="1">
                <a:latin typeface="Calibri" pitchFamily="34" charset="0"/>
              </a:rPr>
              <a:t>AnatomicEntityCharacteristic</a:t>
            </a:r>
            <a:endParaRPr lang="en-US" sz="2800">
              <a:latin typeface="Calibri" pitchFamily="34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sz="2400">
                <a:latin typeface="Calibri" pitchFamily="34" charset="0"/>
              </a:rPr>
              <a:t>RID5784, Collapsed, RadLex</a:t>
            </a:r>
            <a:endParaRPr lang="en-US" sz="2400">
              <a:solidFill>
                <a:srgbClr val="FF0066"/>
              </a:solidFill>
              <a:latin typeface="Calibri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 b="1">
                <a:latin typeface="Calibri" pitchFamily="34" charset="0"/>
              </a:rPr>
              <a:t>ImagingObservation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sz="2400">
                <a:latin typeface="Calibri" pitchFamily="34" charset="0"/>
              </a:rPr>
              <a:t>RID3874, Mass, RadLex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 b="1">
                <a:latin typeface="Calibri" pitchFamily="34" charset="0"/>
              </a:rPr>
              <a:t>ImagingObservationCharacteristic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sz="2400">
                <a:latin typeface="Calibri" pitchFamily="34" charset="0"/>
              </a:rPr>
              <a:t>RID5712, Microlobulated margin, RadLex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800">
              <a:latin typeface="Calibri" pitchFamily="34" charset="0"/>
            </a:endParaRPr>
          </a:p>
        </p:txBody>
      </p:sp>
    </p:spTree>
  </p:cSld>
  <p:clrMapOvr>
    <a:masterClrMapping/>
  </p:clrMapOvr>
  <p:transition advTm="8593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AIMv2rv10"/>
          <p:cNvPicPr>
            <a:picLocks noChangeAspect="1" noChangeArrowheads="1"/>
          </p:cNvPicPr>
          <p:nvPr/>
        </p:nvPicPr>
        <p:blipFill>
          <a:blip r:embed="rId3" cstate="print"/>
          <a:srcRect l="10500" t="21196" r="82881" b="63419"/>
          <a:stretch>
            <a:fillRect/>
          </a:stretch>
        </p:blipFill>
        <p:spPr bwMode="auto">
          <a:xfrm>
            <a:off x="152400" y="1524000"/>
            <a:ext cx="3192463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3"/>
          <p:cNvSpPr>
            <a:spLocks noGrp="1"/>
          </p:cNvSpPr>
          <p:nvPr>
            <p:ph type="title"/>
          </p:nvPr>
        </p:nvSpPr>
        <p:spPr bwMode="auto">
          <a:noFill/>
        </p:spPr>
        <p:txBody>
          <a:bodyPr/>
          <a:lstStyle/>
          <a:p>
            <a:pPr eaLnBrk="1" hangingPunct="1"/>
            <a:r>
              <a:rPr lang="en-US" sz="3600" smtClean="0"/>
              <a:t>Use of Controlled Terminologies</a:t>
            </a:r>
          </a:p>
        </p:txBody>
      </p:sp>
      <p:sp>
        <p:nvSpPr>
          <p:cNvPr id="44036" name="Rectangle 4"/>
          <p:cNvSpPr>
            <a:spLocks noGrp="1"/>
          </p:cNvSpPr>
          <p:nvPr>
            <p:ph type="body" sz="half" idx="2"/>
          </p:nvPr>
        </p:nvSpPr>
        <p:spPr>
          <a:xfrm>
            <a:off x="5105400" y="1219200"/>
            <a:ext cx="4192588" cy="21336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smtClean="0"/>
              <a:t>codeValue: “RID3875”</a:t>
            </a:r>
          </a:p>
          <a:p>
            <a:pPr eaLnBrk="1" hangingPunct="1">
              <a:defRPr/>
            </a:pPr>
            <a:r>
              <a:rPr lang="en-US" smtClean="0"/>
              <a:t>codeMeaning: “nodule”</a:t>
            </a:r>
          </a:p>
          <a:p>
            <a:pPr eaLnBrk="1" hangingPunct="1">
              <a:defRPr/>
            </a:pPr>
            <a:r>
              <a:rPr lang="en-US" smtClean="0"/>
              <a:t>codingSchemeDesignator: “RadLex”</a:t>
            </a:r>
          </a:p>
          <a:p>
            <a:pPr eaLnBrk="1" hangingPunct="1">
              <a:defRPr/>
            </a:pPr>
            <a:r>
              <a:rPr lang="en-US" smtClean="0"/>
              <a:t>codingSchemeVersion: “2.0”</a:t>
            </a:r>
          </a:p>
        </p:txBody>
      </p:sp>
      <p:pic>
        <p:nvPicPr>
          <p:cNvPr id="20485" name="Picture 5" descr="AIMv2rv10"/>
          <p:cNvPicPr>
            <a:picLocks noChangeAspect="1" noChangeArrowheads="1"/>
          </p:cNvPicPr>
          <p:nvPr/>
        </p:nvPicPr>
        <p:blipFill>
          <a:blip r:embed="rId3" cstate="print"/>
          <a:srcRect l="61369" t="40642" r="31982" b="45259"/>
          <a:stretch>
            <a:fillRect/>
          </a:stretch>
        </p:blipFill>
        <p:spPr bwMode="auto">
          <a:xfrm>
            <a:off x="3048000" y="3048000"/>
            <a:ext cx="2528888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6" name="Picture 6" descr="AIMv2rv10"/>
          <p:cNvPicPr>
            <a:picLocks noChangeAspect="1" noChangeArrowheads="1"/>
          </p:cNvPicPr>
          <p:nvPr/>
        </p:nvPicPr>
        <p:blipFill>
          <a:blip r:embed="rId3" cstate="print"/>
          <a:srcRect l="43604" t="21239" r="44864" b="54016"/>
          <a:stretch>
            <a:fillRect/>
          </a:stretch>
        </p:blipFill>
        <p:spPr bwMode="auto">
          <a:xfrm>
            <a:off x="5410200" y="3429000"/>
            <a:ext cx="232092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4062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0"/>
            <a:ext cx="6934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RadLex Vocabulary</a:t>
            </a:r>
          </a:p>
        </p:txBody>
      </p:sp>
      <p:pic>
        <p:nvPicPr>
          <p:cNvPr id="2150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52713" y="762000"/>
            <a:ext cx="3838575" cy="590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9"/>
          <p:cNvSpPr>
            <a:spLocks noChangeArrowheads="1"/>
          </p:cNvSpPr>
          <p:nvPr/>
        </p:nvSpPr>
        <p:spPr bwMode="auto">
          <a:xfrm>
            <a:off x="6629400" y="2209800"/>
            <a:ext cx="2133600" cy="1800225"/>
          </a:xfrm>
          <a:prstGeom prst="rect">
            <a:avLst/>
          </a:prstGeom>
          <a:solidFill>
            <a:srgbClr val="CC99FF">
              <a:alpha val="25098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latin typeface="Calibri" pitchFamily="34" charset="0"/>
              </a:rPr>
              <a:t>DICOM,</a:t>
            </a:r>
          </a:p>
          <a:p>
            <a:r>
              <a:rPr lang="en-US" sz="2800" b="1">
                <a:latin typeface="Calibri" pitchFamily="34" charset="0"/>
              </a:rPr>
              <a:t>LOINC,</a:t>
            </a:r>
          </a:p>
          <a:p>
            <a:r>
              <a:rPr lang="en-US" sz="2800" b="1">
                <a:latin typeface="Calibri" pitchFamily="34" charset="0"/>
              </a:rPr>
              <a:t>SNOMED CT,</a:t>
            </a:r>
          </a:p>
          <a:p>
            <a:r>
              <a:rPr lang="en-US" sz="2800" b="1">
                <a:latin typeface="Calibri" pitchFamily="34" charset="0"/>
              </a:rPr>
              <a:t>NCI, etc…</a:t>
            </a:r>
          </a:p>
        </p:txBody>
      </p:sp>
    </p:spTree>
    <p:custDataLst>
      <p:tags r:id="rId1"/>
    </p:custDataLst>
  </p:cSld>
  <p:clrMapOvr>
    <a:masterClrMapping/>
  </p:clrMapOvr>
  <p:transition advTm="834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8288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Controlled Terms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1447800"/>
            <a:ext cx="358140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62075" y="3429000"/>
            <a:ext cx="343852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5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304800"/>
            <a:ext cx="3279775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6" name="Line 7"/>
          <p:cNvSpPr>
            <a:spLocks noChangeShapeType="1"/>
          </p:cNvSpPr>
          <p:nvPr/>
        </p:nvSpPr>
        <p:spPr bwMode="auto">
          <a:xfrm flipH="1">
            <a:off x="4572000" y="1371600"/>
            <a:ext cx="1219200" cy="228600"/>
          </a:xfrm>
          <a:prstGeom prst="line">
            <a:avLst/>
          </a:prstGeom>
          <a:noFill/>
          <a:ln w="57150">
            <a:solidFill>
              <a:srgbClr val="0000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67" name="Line 8"/>
          <p:cNvSpPr>
            <a:spLocks noChangeShapeType="1"/>
          </p:cNvSpPr>
          <p:nvPr/>
        </p:nvSpPr>
        <p:spPr bwMode="auto">
          <a:xfrm flipH="1">
            <a:off x="4724400" y="1752600"/>
            <a:ext cx="1066800" cy="1676400"/>
          </a:xfrm>
          <a:prstGeom prst="line">
            <a:avLst/>
          </a:prstGeom>
          <a:noFill/>
          <a:ln w="57150">
            <a:solidFill>
              <a:srgbClr val="0000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Text Box 9"/>
          <p:cNvSpPr txBox="1">
            <a:spLocks noChangeArrowheads="1"/>
          </p:cNvSpPr>
          <p:nvPr/>
        </p:nvSpPr>
        <p:spPr bwMode="auto">
          <a:xfrm>
            <a:off x="685800" y="5105400"/>
            <a:ext cx="4956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3776E"/>
                </a:solidFill>
              </a:rPr>
              <a:t>Simple &amp; Constraint Annotations</a:t>
            </a:r>
          </a:p>
        </p:txBody>
      </p:sp>
    </p:spTree>
    <p:custDataLst>
      <p:tags r:id="rId1"/>
    </p:custDataLst>
  </p:cSld>
  <p:clrMapOvr>
    <a:masterClrMapping/>
  </p:clrMapOvr>
  <p:transition advTm="105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animBg="1"/>
      <p:bldP spid="15367" grpId="0" animBg="1"/>
      <p:bldP spid="1536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7543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AIM &amp; Controlled Terms in Action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457200" y="1576388"/>
            <a:ext cx="8928100" cy="528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endParaRPr lang="en-US" sz="3200" b="1">
              <a:latin typeface="Calibri" pitchFamily="34" charset="0"/>
            </a:endParaRPr>
          </a:p>
          <a:p>
            <a:pPr marL="742950" lvl="1" indent="-285750">
              <a:spcBef>
                <a:spcPct val="20000"/>
              </a:spcBef>
              <a:buFont typeface="Arial" charset="0"/>
              <a:buNone/>
            </a:pPr>
            <a:endParaRPr lang="en-US" sz="3200" b="1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None/>
            </a:pPr>
            <a:endParaRPr lang="en-US" sz="3600" b="1">
              <a:latin typeface="Calibri" pitchFamily="34" charset="0"/>
            </a:endParaRPr>
          </a:p>
          <a:p>
            <a:pPr marL="342900" indent="-342900" algn="ctr">
              <a:spcBef>
                <a:spcPct val="20000"/>
              </a:spcBef>
              <a:buFont typeface="Arial" charset="0"/>
              <a:buNone/>
            </a:pPr>
            <a:endParaRPr lang="en-US" sz="3600" b="1">
              <a:latin typeface="Calibri" pitchFamily="34" charset="0"/>
            </a:endParaRPr>
          </a:p>
          <a:p>
            <a:pPr marL="342900" indent="-342900" algn="ctr">
              <a:spcBef>
                <a:spcPct val="20000"/>
              </a:spcBef>
              <a:buFont typeface="Arial" charset="0"/>
              <a:buNone/>
            </a:pPr>
            <a:endParaRPr lang="en-US" sz="3200" b="1">
              <a:latin typeface="Calibri" pitchFamily="34" charset="0"/>
            </a:endParaRP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990600"/>
            <a:ext cx="7696200" cy="57721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676400" y="6172200"/>
            <a:ext cx="6062663" cy="396875"/>
          </a:xfrm>
          <a:prstGeom prst="rect">
            <a:avLst/>
          </a:prstGeom>
          <a:solidFill>
            <a:srgbClr val="CC99FF">
              <a:alpha val="94901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AIM 2.0 Plugin available on www.ClearCanvas.ca</a:t>
            </a:r>
          </a:p>
        </p:txBody>
      </p:sp>
    </p:spTree>
    <p:custDataLst>
      <p:tags r:id="rId1"/>
    </p:custDataLst>
  </p:cSld>
  <p:clrMapOvr>
    <a:masterClrMapping/>
  </p:clrMapOvr>
  <p:transition advTm="900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AIM Template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596900" y="1524000"/>
            <a:ext cx="8699500" cy="528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Calibri" pitchFamily="34" charset="0"/>
              </a:rPr>
              <a:t>XML schema to capture the creation of constrained terminology for AIM annotations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Calibri" pitchFamily="34" charset="0"/>
              </a:rPr>
              <a:t>AIM template XML document to be consumed by AIM enabled workstations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Calibri" pitchFamily="34" charset="0"/>
              </a:rPr>
              <a:t>Terms can be selected from standard vocabularies (RadLex, DICOM, SNOMED, etc.) 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Calibri" pitchFamily="34" charset="0"/>
              </a:rPr>
              <a:t>Private terms created by annotator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3200">
                <a:latin typeface="Calibri" pitchFamily="34" charset="0"/>
              </a:rPr>
              <a:t>Not involved in GUI design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None/>
            </a:pPr>
            <a:endParaRPr lang="en-US" sz="3200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None/>
            </a:pPr>
            <a:endParaRPr lang="en-US" sz="3600" b="1">
              <a:latin typeface="Calibri" pitchFamily="34" charset="0"/>
            </a:endParaRPr>
          </a:p>
          <a:p>
            <a:pPr marL="342900" indent="-342900" algn="ctr">
              <a:spcBef>
                <a:spcPct val="20000"/>
              </a:spcBef>
              <a:buFont typeface="Arial" charset="0"/>
              <a:buNone/>
            </a:pPr>
            <a:endParaRPr lang="en-US" sz="3600" b="1">
              <a:latin typeface="Calibri" pitchFamily="34" charset="0"/>
            </a:endParaRPr>
          </a:p>
        </p:txBody>
      </p:sp>
    </p:spTree>
  </p:cSld>
  <p:clrMapOvr>
    <a:masterClrMapping/>
  </p:clrMapOvr>
  <p:transition advTm="12359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AIM Template Schema</a:t>
            </a:r>
          </a:p>
        </p:txBody>
      </p:sp>
      <p:pic>
        <p:nvPicPr>
          <p:cNvPr id="2560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7100" y="685800"/>
            <a:ext cx="5956300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1281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AIM Template (partial example)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457200" y="1576388"/>
            <a:ext cx="8928100" cy="528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endParaRPr lang="en-US" sz="3200" b="1">
              <a:latin typeface="Calibri" pitchFamily="34" charset="0"/>
            </a:endParaRPr>
          </a:p>
          <a:p>
            <a:pPr marL="742950" lvl="1" indent="-285750">
              <a:spcBef>
                <a:spcPct val="20000"/>
              </a:spcBef>
              <a:buFont typeface="Arial" charset="0"/>
              <a:buNone/>
            </a:pPr>
            <a:endParaRPr lang="en-US" sz="3200" b="1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None/>
            </a:pPr>
            <a:endParaRPr lang="en-US" sz="3600" b="1">
              <a:latin typeface="Calibri" pitchFamily="34" charset="0"/>
            </a:endParaRPr>
          </a:p>
          <a:p>
            <a:pPr marL="342900" indent="-342900" algn="ctr">
              <a:spcBef>
                <a:spcPct val="20000"/>
              </a:spcBef>
              <a:buFont typeface="Arial" charset="0"/>
              <a:buNone/>
            </a:pPr>
            <a:endParaRPr lang="en-US" sz="3600" b="1">
              <a:latin typeface="Calibri" pitchFamily="34" charset="0"/>
            </a:endParaRPr>
          </a:p>
          <a:p>
            <a:pPr marL="342900" indent="-342900" algn="ctr">
              <a:spcBef>
                <a:spcPct val="20000"/>
              </a:spcBef>
              <a:buFont typeface="Arial" charset="0"/>
              <a:buNone/>
            </a:pPr>
            <a:endParaRPr lang="en-US" sz="3200" b="1">
              <a:latin typeface="Calibri" pitchFamily="34" charset="0"/>
            </a:endParaRPr>
          </a:p>
        </p:txBody>
      </p:sp>
      <p:pic>
        <p:nvPicPr>
          <p:cNvPr id="2662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022475"/>
            <a:ext cx="9144000" cy="361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8" name="Picture 5"/>
          <p:cNvPicPr>
            <a:picLocks noChangeAspect="1" noChangeArrowheads="1"/>
          </p:cNvPicPr>
          <p:nvPr/>
        </p:nvPicPr>
        <p:blipFill>
          <a:blip r:embed="rId3" cstate="print"/>
          <a:srcRect t="10535" r="58797" b="59966"/>
          <a:stretch>
            <a:fillRect/>
          </a:stretch>
        </p:blipFill>
        <p:spPr bwMode="auto">
          <a:xfrm>
            <a:off x="381000" y="2514600"/>
            <a:ext cx="8382000" cy="237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ransition advTm="1071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AIM Template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57200" y="1576388"/>
            <a:ext cx="8928100" cy="528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endParaRPr lang="en-US" sz="3200" b="1">
              <a:latin typeface="Calibri" pitchFamily="34" charset="0"/>
            </a:endParaRPr>
          </a:p>
          <a:p>
            <a:pPr marL="742950" lvl="1" indent="-285750">
              <a:spcBef>
                <a:spcPct val="20000"/>
              </a:spcBef>
              <a:buFont typeface="Arial" charset="0"/>
              <a:buNone/>
            </a:pPr>
            <a:endParaRPr lang="en-US" sz="3200" b="1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None/>
            </a:pPr>
            <a:endParaRPr lang="en-US" sz="3600" b="1">
              <a:latin typeface="Calibri" pitchFamily="34" charset="0"/>
            </a:endParaRPr>
          </a:p>
          <a:p>
            <a:pPr marL="342900" indent="-342900" algn="ctr">
              <a:spcBef>
                <a:spcPct val="20000"/>
              </a:spcBef>
              <a:buFont typeface="Arial" charset="0"/>
              <a:buNone/>
            </a:pPr>
            <a:endParaRPr lang="en-US" sz="3600" b="1">
              <a:latin typeface="Calibri" pitchFamily="34" charset="0"/>
            </a:endParaRPr>
          </a:p>
          <a:p>
            <a:pPr marL="342900" indent="-342900" algn="ctr">
              <a:spcBef>
                <a:spcPct val="20000"/>
              </a:spcBef>
              <a:buFont typeface="Arial" charset="0"/>
              <a:buNone/>
            </a:pPr>
            <a:endParaRPr lang="en-US" sz="3200" b="1">
              <a:latin typeface="Calibri" pitchFamily="34" charset="0"/>
            </a:endParaRPr>
          </a:p>
        </p:txBody>
      </p:sp>
      <p:pic>
        <p:nvPicPr>
          <p:cNvPr id="2765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225" y="1231900"/>
            <a:ext cx="8834438" cy="536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18421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AIM History</a:t>
            </a:r>
          </a:p>
        </p:txBody>
      </p:sp>
      <p:sp>
        <p:nvSpPr>
          <p:cNvPr id="28675" name="Rectangle 7"/>
          <p:cNvSpPr>
            <a:spLocks noChangeArrowheads="1"/>
          </p:cNvSpPr>
          <p:nvPr/>
        </p:nvSpPr>
        <p:spPr bwMode="auto">
          <a:xfrm>
            <a:off x="990600" y="1576388"/>
            <a:ext cx="7696200" cy="528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AIM 1.0 (March 5th, 2009)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AIM 1.5 (AIM TCGA, September 2009, April 2010)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AIM 2.0 (March 15th, 2010)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AIM 3.0 (September 2010)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AIM 4.0 (Expected 2011)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None/>
            </a:pPr>
            <a:endParaRPr lang="en-US" sz="2800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None/>
            </a:pPr>
            <a:endParaRPr lang="en-US" sz="3600" b="1">
              <a:latin typeface="Calibri" pitchFamily="34" charset="0"/>
            </a:endParaRPr>
          </a:p>
          <a:p>
            <a:pPr marL="342900" indent="-342900" algn="ctr">
              <a:spcBef>
                <a:spcPct val="20000"/>
              </a:spcBef>
              <a:buFont typeface="Arial" charset="0"/>
              <a:buNone/>
            </a:pPr>
            <a:endParaRPr lang="en-US" sz="3600" b="1">
              <a:latin typeface="Calibri" pitchFamily="34" charset="0"/>
            </a:endParaRPr>
          </a:p>
          <a:p>
            <a:pPr marL="342900" indent="-342900" algn="ctr">
              <a:spcBef>
                <a:spcPct val="20000"/>
              </a:spcBef>
              <a:buFont typeface="Arial" charset="0"/>
              <a:buNone/>
            </a:pPr>
            <a:endParaRPr lang="en-US" sz="3200" b="1">
              <a:latin typeface="Calibri" pitchFamily="34" charset="0"/>
            </a:endParaRPr>
          </a:p>
        </p:txBody>
      </p:sp>
    </p:spTree>
  </p:cSld>
  <p:clrMapOvr>
    <a:masterClrMapping/>
  </p:clrMapOvr>
  <p:transition advTm="4813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AIM Resources</a:t>
            </a:r>
          </a:p>
        </p:txBody>
      </p:sp>
      <p:sp>
        <p:nvSpPr>
          <p:cNvPr id="29699" name="Rectangle 7"/>
          <p:cNvSpPr>
            <a:spLocks noGrp="1"/>
          </p:cNvSpPr>
          <p:nvPr>
            <p:ph idx="4294967295"/>
          </p:nvPr>
        </p:nvSpPr>
        <p:spPr>
          <a:xfrm>
            <a:off x="6858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sz="2800" smtClean="0">
                <a:hlinkClick r:id="rId2"/>
              </a:rPr>
              <a:t>https://gforge.nci.nih.gov/frs/?group_id=230</a:t>
            </a:r>
            <a:endParaRPr lang="en-US" sz="2800" smtClean="0"/>
          </a:p>
          <a:p>
            <a:pPr eaLnBrk="1" hangingPunct="1"/>
            <a:r>
              <a:rPr lang="en-US" sz="2800" smtClean="0"/>
              <a:t>CDE Browser</a:t>
            </a:r>
          </a:p>
          <a:p>
            <a:pPr lvl="1" eaLnBrk="1" hangingPunct="1"/>
            <a:r>
              <a:rPr lang="en-US" sz="2400" smtClean="0">
                <a:hlinkClick r:id="rId3"/>
              </a:rPr>
              <a:t>http://cdebrowser.nci.nih.gov/CDEBrowser/</a:t>
            </a:r>
            <a:endParaRPr lang="en-US" sz="2400" smtClean="0"/>
          </a:p>
          <a:p>
            <a:pPr eaLnBrk="1" hangingPunct="1"/>
            <a:r>
              <a:rPr lang="en-US" sz="2800" smtClean="0"/>
              <a:t>UML Model Browser</a:t>
            </a:r>
          </a:p>
          <a:p>
            <a:pPr lvl="1" eaLnBrk="1" hangingPunct="1"/>
            <a:r>
              <a:rPr lang="en-US" sz="2400" smtClean="0">
                <a:hlinkClick r:id="rId4"/>
              </a:rPr>
              <a:t>http://umlmodelbrowser.nci.nih.gov/umlmodelbrowser/</a:t>
            </a:r>
            <a:endParaRPr lang="en-US" sz="2400" smtClean="0"/>
          </a:p>
          <a:p>
            <a:pPr eaLnBrk="1" hangingPunct="1"/>
            <a:r>
              <a:rPr lang="en-US" sz="2800" smtClean="0"/>
              <a:t>AIM 3.0 standard C++ library</a:t>
            </a:r>
          </a:p>
          <a:p>
            <a:pPr eaLnBrk="1" hangingPunct="1"/>
            <a:r>
              <a:rPr lang="en-US" sz="2800" smtClean="0"/>
              <a:t>ANIVATR </a:t>
            </a:r>
          </a:p>
          <a:p>
            <a:pPr eaLnBrk="1" hangingPunct="1"/>
            <a:r>
              <a:rPr lang="en-US" sz="2800" smtClean="0"/>
              <a:t>AIM 3.0 referenced implementation</a:t>
            </a:r>
          </a:p>
          <a:p>
            <a:pPr lvl="1" eaLnBrk="1" hangingPunct="1"/>
            <a:r>
              <a:rPr lang="en-US" sz="2400" smtClean="0"/>
              <a:t>Convert between AIM XML and AIM DICOM SR</a:t>
            </a:r>
          </a:p>
          <a:p>
            <a:pPr lvl="1" eaLnBrk="1" hangingPunct="1"/>
            <a:r>
              <a:rPr lang="en-US" sz="2400" smtClean="0"/>
              <a:t>AIM 3.0 official XML schemas</a:t>
            </a:r>
          </a:p>
          <a:p>
            <a:pPr eaLnBrk="1" hangingPunct="1"/>
            <a:r>
              <a:rPr lang="en-US" sz="2800" smtClean="0"/>
              <a:t>Documentation</a:t>
            </a:r>
          </a:p>
          <a:p>
            <a:pPr eaLnBrk="1" hangingPunct="1"/>
            <a:endParaRPr lang="en-US" sz="2800" smtClean="0"/>
          </a:p>
        </p:txBody>
      </p:sp>
    </p:spTree>
  </p:cSld>
  <p:clrMapOvr>
    <a:masterClrMapping/>
  </p:clrMapOvr>
  <p:transition advTm="953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ChangeArrowheads="1"/>
          </p:cNvSpPr>
          <p:nvPr/>
        </p:nvSpPr>
        <p:spPr bwMode="auto">
          <a:xfrm>
            <a:off x="457200" y="1576388"/>
            <a:ext cx="8928100" cy="528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endParaRPr lang="en-US" sz="3200" b="1">
              <a:latin typeface="Calibri" pitchFamily="34" charset="0"/>
            </a:endParaRPr>
          </a:p>
          <a:p>
            <a:pPr marL="742950" lvl="1" indent="-285750">
              <a:spcBef>
                <a:spcPct val="20000"/>
              </a:spcBef>
              <a:buFont typeface="Arial" charset="0"/>
              <a:buNone/>
            </a:pPr>
            <a:endParaRPr lang="en-US" sz="3200" b="1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None/>
            </a:pPr>
            <a:endParaRPr lang="en-US" sz="3600" b="1">
              <a:latin typeface="Calibri" pitchFamily="34" charset="0"/>
            </a:endParaRPr>
          </a:p>
          <a:p>
            <a:pPr marL="342900" indent="-342900" algn="ctr">
              <a:spcBef>
                <a:spcPct val="20000"/>
              </a:spcBef>
              <a:buFont typeface="Arial" charset="0"/>
              <a:buNone/>
            </a:pPr>
            <a:endParaRPr lang="en-US" sz="3600" b="1">
              <a:latin typeface="Calibri" pitchFamily="34" charset="0"/>
            </a:endParaRPr>
          </a:p>
          <a:p>
            <a:pPr marL="342900" indent="-342900" algn="ctr">
              <a:spcBef>
                <a:spcPct val="20000"/>
              </a:spcBef>
              <a:buFont typeface="Arial" charset="0"/>
              <a:buNone/>
            </a:pPr>
            <a:endParaRPr lang="en-US" sz="3200" b="1">
              <a:latin typeface="Calibri" pitchFamily="34" charset="0"/>
            </a:endParaRPr>
          </a:p>
        </p:txBody>
      </p:sp>
      <p:sp>
        <p:nvSpPr>
          <p:cNvPr id="30723" name="Rectangle 4"/>
          <p:cNvSpPr>
            <a:spLocks noChangeArrowheads="1"/>
          </p:cNvSpPr>
          <p:nvPr/>
        </p:nvSpPr>
        <p:spPr bwMode="white">
          <a:xfrm>
            <a:off x="1905000" y="0"/>
            <a:ext cx="6858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4000" b="1">
                <a:solidFill>
                  <a:schemeClr val="bg1"/>
                </a:solidFill>
                <a:latin typeface="Calibri" pitchFamily="34" charset="0"/>
              </a:rPr>
              <a:t>What can you do?</a:t>
            </a:r>
          </a:p>
        </p:txBody>
      </p:sp>
      <p:sp>
        <p:nvSpPr>
          <p:cNvPr id="30724" name="Rectangle 5"/>
          <p:cNvSpPr>
            <a:spLocks noChangeArrowheads="1"/>
          </p:cNvSpPr>
          <p:nvPr/>
        </p:nvSpPr>
        <p:spPr bwMode="auto">
          <a:xfrm>
            <a:off x="609600" y="1676400"/>
            <a:ext cx="8458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Get your imaging vendor to support AIM annotation in their products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Build AIM annotation into your favorite open source research imaging software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Take the AIM UML Model and build Grid Services that store and retrieve AIM annotations (this is under way)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sz="2800">
                <a:latin typeface="Calibri" pitchFamily="34" charset="0"/>
              </a:rPr>
              <a:t>Build Web 2.0 services that serve up AIM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sz="2800">
                <a:latin typeface="Calibri" pitchFamily="34" charset="0"/>
              </a:rPr>
              <a:t>Build DICOM services that query and retrieve AIM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Start annotating images!</a:t>
            </a:r>
          </a:p>
        </p:txBody>
      </p:sp>
    </p:spTree>
  </p:cSld>
  <p:clrMapOvr>
    <a:masterClrMapping/>
  </p:clrMapOvr>
  <p:transition advTm="625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1905000" y="762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Summary</a:t>
            </a:r>
          </a:p>
        </p:txBody>
      </p:sp>
      <p:sp>
        <p:nvSpPr>
          <p:cNvPr id="31747" name="Rectangle 5"/>
          <p:cNvSpPr>
            <a:spLocks noChangeArrowheads="1"/>
          </p:cNvSpPr>
          <p:nvPr/>
        </p:nvSpPr>
        <p:spPr bwMode="auto">
          <a:xfrm>
            <a:off x="533400" y="1676400"/>
            <a:ext cx="86868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AIM is critical to “tagging” content in medical images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2800">
                <a:latin typeface="Calibri" pitchFamily="34" charset="0"/>
              </a:rPr>
              <a:t>Effective search &amp; retrieve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</a:pPr>
            <a:r>
              <a:rPr lang="en-US" sz="2800">
                <a:latin typeface="Calibri" pitchFamily="34" charset="0"/>
              </a:rPr>
              <a:t>Such that images containing similar content can be identified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The AIM project provides information model and encoding standards for the structure and content of image annotations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AIM annotations is critical components of future image based research.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800">
                <a:latin typeface="Calibri" pitchFamily="34" charset="0"/>
              </a:rPr>
              <a:t>AIM for Pathology and Oncology</a:t>
            </a:r>
          </a:p>
        </p:txBody>
      </p:sp>
    </p:spTree>
  </p:cSld>
  <p:clrMapOvr>
    <a:masterClrMapping/>
  </p:clrMapOvr>
  <p:transition advTm="296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/>
          </p:cNvSpPr>
          <p:nvPr/>
        </p:nvSpPr>
        <p:spPr bwMode="auto">
          <a:xfrm>
            <a:off x="966788" y="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Assistance Needed?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33400" y="1676400"/>
            <a:ext cx="86868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endParaRPr lang="en-US" sz="2800" b="1">
              <a:latin typeface="Calibri" pitchFamily="34" charset="0"/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509588" y="3784600"/>
            <a:ext cx="7599362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5400" b="1">
                <a:latin typeface="Calibri" pitchFamily="34" charset="0"/>
              </a:rPr>
              <a:t>Contact</a:t>
            </a:r>
            <a:r>
              <a:rPr lang="en-US" sz="3600" b="1">
                <a:latin typeface="Calibri" pitchFamily="34" charset="0"/>
              </a:rPr>
              <a:t> : </a:t>
            </a:r>
            <a:r>
              <a:rPr lang="en-US" sz="5400" b="1">
                <a:solidFill>
                  <a:schemeClr val="hlink"/>
                </a:solidFill>
                <a:latin typeface="Calibri" pitchFamily="34" charset="0"/>
              </a:rPr>
              <a:t>AIMTeam@northwestern.edu</a:t>
            </a:r>
            <a:endParaRPr lang="en-US" sz="3600" b="1">
              <a:solidFill>
                <a:schemeClr val="hlink"/>
              </a:solidFill>
              <a:latin typeface="Calibri" pitchFamily="34" charset="0"/>
            </a:endParaRPr>
          </a:p>
          <a:p>
            <a:endParaRPr lang="en-US" sz="3600" b="1">
              <a:latin typeface="Calibri" pitchFamily="34" charset="0"/>
            </a:endParaRPr>
          </a:p>
        </p:txBody>
      </p:sp>
    </p:spTree>
  </p:cSld>
  <p:clrMapOvr>
    <a:masterClrMapping/>
  </p:clrMapOvr>
  <p:transition advTm="31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1.6|2|1.9|2.1|2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8|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1|1.1|1.3|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3.3|1.1|1.9|0.7|1.6|3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1.3|1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1.5|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</TotalTime>
  <Words>791</Words>
  <Application>Microsoft Office PowerPoint</Application>
  <PresentationFormat>On-screen Show (4:3)</PresentationFormat>
  <Paragraphs>234</Paragraphs>
  <Slides>30</Slides>
  <Notes>2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Black</vt:lpstr>
      <vt:lpstr>Times New Roman</vt:lpstr>
      <vt:lpstr>Symbol</vt:lpstr>
      <vt:lpstr>Calibri</vt:lpstr>
      <vt:lpstr>Default Design</vt:lpstr>
      <vt:lpstr>Adobe Photoshop Image</vt:lpstr>
      <vt:lpstr>AIM Version 3.0 </vt:lpstr>
      <vt:lpstr>The problem </vt:lpstr>
      <vt:lpstr>The problem (cont.) 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Use of Controlled Terminologies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cp:lastModifiedBy>User</cp:lastModifiedBy>
  <cp:revision>90</cp:revision>
  <dcterms:modified xsi:type="dcterms:W3CDTF">2010-11-30T15:45:36Z</dcterms:modified>
</cp:coreProperties>
</file>